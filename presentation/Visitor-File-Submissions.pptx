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vy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777240"/>
            <a:ext cx="1143000" cy="870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0" y="10515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0" i="0">
                <a:solidFill>
                  <a:srgbClr val="FFFFFF"/>
                </a:solidFill>
                <a:latin typeface="Calibri"/>
              </a:rPr>
              <a:t>GROUP SALES · VISITOR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847088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0" i="0">
                <a:solidFill>
                  <a:srgbClr val="FFFFFF"/>
                </a:solidFill>
                <a:latin typeface="Calibri"/>
              </a:rPr>
              <a:t>FISCAL YEAR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" y="2212848"/>
            <a:ext cx="640080" cy="4445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834640"/>
            <a:ext cx="12801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200" b="0" i="0">
                <a:solidFill>
                  <a:srgbClr val="FFFFFF"/>
                </a:solidFill>
                <a:latin typeface="Bebas Neue"/>
              </a:rPr>
              <a:t>VISITOR</a:t>
            </a:r>
          </a:p>
          <a:p>
            <a:pPr algn="l">
              <a:spcAft>
                <a:spcPts val="0"/>
              </a:spcAft>
            </a:pPr>
            <a:r>
              <a:rPr sz="11200" b="0" i="0">
                <a:solidFill>
                  <a:srgbClr val="E4002B"/>
                </a:solidFill>
                <a:latin typeface="Bebas Neue"/>
              </a:rPr>
              <a:t>FILE</a:t>
            </a:r>
          </a:p>
          <a:p>
            <a:pPr algn="l">
              <a:spcAft>
                <a:spcPts val="0"/>
              </a:spcAft>
            </a:pPr>
            <a:r>
              <a:rPr sz="11200" b="0" i="0">
                <a:solidFill>
                  <a:srgbClr val="FFFFFF"/>
                </a:solidFill>
                <a:latin typeface="Bebas Neue"/>
              </a:rPr>
              <a:t>SUBMISSIONS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7818120"/>
            <a:ext cx="16312896" cy="15875"/>
          </a:xfrm>
          <a:prstGeom prst="rect">
            <a:avLst/>
          </a:prstGeom>
          <a:solidFill>
            <a:srgbClr val="3A4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8229600"/>
            <a:ext cx="8229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Bebas Neue"/>
              </a:rPr>
              <a:t>SECURE INTAKE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0" y="8366760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0" y="8595360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  <a:latin typeface="Calibri"/>
              </a:rPr>
              <a:t>Group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0" y="8961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50" b="0" i="1">
                <a:solidFill>
                  <a:srgbClr val="D7DADD"/>
                </a:solidFill>
                <a:latin typeface="Georgia"/>
              </a:rPr>
              <a:t>Submitted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691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0" i="0">
                <a:solidFill>
                  <a:srgbClr val="FFFFFF"/>
                </a:solidFill>
                <a:latin typeface="Bebas Neue"/>
              </a:rPr>
              <a:t>HOW TO USE THIS VISITOR INTAKE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691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D7DADD"/>
                </a:solidFill>
                <a:latin typeface="Georgia"/>
              </a:rPr>
              <a:t>A section-by-section guide for submitting venue documents, event files, and review materials.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16916400" cy="15875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5176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Why scattered visitor files slow reviews and sales handoffs.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7639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THE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8912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Profile, packet, and receipt — one path for every submission.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06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80644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TEAMS &amp; TYPES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21792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Who receives the packet and which submission types are supported.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8048" y="224028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13848" y="224028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PACKET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13848" y="265176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File formats, size limits, notes, and approval requirements.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8048" y="3977639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3848" y="3977639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THE WORKSPACE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13848" y="438912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How the visitor profile and live status panel work together.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8048" y="5806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E4002B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3848" y="580644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3848" y="6217920"/>
            <a:ext cx="7132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Faster handoffs, less rework, clear ownership, audit-ready receipts.</a:t>
            </a:r>
          </a:p>
        </p:txBody>
      </p:sp>
      <p:pic>
        <p:nvPicPr>
          <p:cNvPr id="24" name="Picture 23" descr="levy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372600"/>
            <a:ext cx="1005840" cy="76603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011680" y="9646920"/>
            <a:ext cx="1280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5787B"/>
                </a:solidFill>
                <a:latin typeface="Calibri"/>
              </a:rPr>
              <a:t>ANNUAL GROUP SALES REVIEW · VISITOR INTAKE · FY2026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SCATTERED FILES. STALLED REVIEWS.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What slows visitor intake today.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THE PROBLEM ·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2926080"/>
            <a:ext cx="7955279" cy="233172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2926080"/>
            <a:ext cx="109728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4752" y="333756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EMAIL CHAINS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397764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Documents land in inboxes without context, owner, or due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00032" y="2926080"/>
            <a:ext cx="7955279" cy="233172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00032" y="2926080"/>
            <a:ext cx="109728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57232" y="333756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MISSING PACKETS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397764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Photos, contracts, menus, and reviews arrive in pieces.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" y="5669280"/>
            <a:ext cx="7955279" cy="233172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7552" y="5669280"/>
            <a:ext cx="109728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608076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WRONG DESTINATION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672084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Culinary, Finance, and Ops receive work meant for someone else.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00032" y="5669280"/>
            <a:ext cx="7955279" cy="233172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00032" y="5669280"/>
            <a:ext cx="109728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57232" y="608076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NO RECEIPT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672084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Teams cannot prove what was submitted or when it arrived.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THE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THREE STEPS. ONE PACKET.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Every visitor submission follows the same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THE FLOW · 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3017520"/>
            <a:ext cx="640080" cy="4445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38328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 i="0">
                <a:solidFill>
                  <a:srgbClr val="E4002B"/>
                </a:solidFill>
                <a:latin typeface="Bebas Neu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389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VISITOR DETAILS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02920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Name, organization, email, destination team, submission type, and due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36792" y="3108960"/>
            <a:ext cx="15875" cy="3840480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3017520"/>
            <a:ext cx="640080" cy="4445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 i="0">
                <a:solidFill>
                  <a:srgbClr val="E4002B"/>
                </a:solidFill>
                <a:latin typeface="Bebas Neue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4389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FILES ATTACHED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502920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Drop PDF, PPTX, DOCX, XLSX, images, or ZIP packets — up to 25 MB 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60352" y="3108960"/>
            <a:ext cx="15875" cy="3840480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234672" y="3017520"/>
            <a:ext cx="640080" cy="4445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234672" y="338328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 i="0">
                <a:solidFill>
                  <a:srgbClr val="E4002B"/>
                </a:solidFill>
                <a:latin typeface="Bebas Neue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4672" y="4389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F1E35"/>
                </a:solidFill>
                <a:latin typeface="Calibri"/>
              </a:rPr>
              <a:t>RECEIPT ISSUED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4672" y="502920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Confirm approval for review and generate a submission receipt for the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DESTINATION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ROUTE ONCE. REACH THE RIGHT DESK.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Choose the team before you submit.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TEAMS ·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288036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108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5468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GROUP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004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Business reviews, proposals, and visitor kits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402336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251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9768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EVENT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3434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Run-of-show files, photos, and logistics packets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" y="516636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5394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4068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4864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Contracts, invoices, and commercial paperwork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" y="630936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6537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58368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CULINARY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66294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Menus, tasting notes, and sales kits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" y="745236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7680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772668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VENUE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77724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Executive summaries and decision packets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SUBMISSION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BUILT FOR THE FILES WE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Select the type that matches the packet.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TYPES ·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260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474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ANNUAL BUSINESS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1480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Structured visitor and account review materials.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9260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474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VENUE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411480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Performance notes, walkthroughs, and opportunity packs.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34672" y="29260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34672" y="3474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EVENT PHOTOS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34672" y="411480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Visual proof and atmosphere for sales storytelling.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585216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64008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CONTRACT OR INVOICE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704088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Commercial documents ready for Finance review.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585216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64008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MENU OR SALES KIT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704088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Culinary and offering assets for pitching.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34672" y="585216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4002B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4672" y="64008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0F1E35"/>
                </a:solidFill>
                <a:latin typeface="Calibri"/>
              </a:rPr>
              <a:t>NOTES FOR THE TEAM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34672" y="704088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85B5E"/>
                </a:solidFill>
                <a:latin typeface="Georgia"/>
              </a:rPr>
              <a:t>Context, event names, and review requests that travel with the packet.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PACKET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0" i="0">
                <a:solidFill>
                  <a:srgbClr val="0F1E35"/>
                </a:solidFill>
                <a:latin typeface="Bebas Neue"/>
              </a:rPr>
              <a:t>CLEAN PACKETS. FASTER REVIEWS.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What every submission must include.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-pa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834640"/>
            <a:ext cx="6766560" cy="58521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87552" y="7498079"/>
            <a:ext cx="6766560" cy="1188720"/>
          </a:xfrm>
          <a:prstGeom prst="rect">
            <a:avLst/>
          </a:prstGeom>
          <a:solidFill>
            <a:srgbClr val="08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7680960"/>
            <a:ext cx="6217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Bebas Neue"/>
              </a:rPr>
              <a:t>VISITOR FILE PACKET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8183879"/>
            <a:ext cx="6217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7DADD"/>
                </a:solidFill>
                <a:latin typeface="Calibri"/>
              </a:rPr>
              <a:t>Group Sales · Secure Intake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803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ACCEPTED FORMATS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72968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PDF, PPTX, DOCX, XLSX, PNG, JPG,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74904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SIZE 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41648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Up to 25 MB per 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1772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PROFILE 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910328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Visitor details + destination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486399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CONTEXT NOTES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779007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Event names and review 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35508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Confirm files are approved before submit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7223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4002B"/>
                </a:solidFill>
                <a:latin typeface="Calibri"/>
              </a:rPr>
              <a:t>ONE PACKET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7516368"/>
            <a:ext cx="8961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F4244"/>
                </a:solidFill>
                <a:latin typeface="Georgia"/>
              </a:rPr>
              <a:t>Keep one packet per review request</a:t>
            </a:r>
          </a:p>
        </p:txBody>
      </p:sp>
      <p:pic>
        <p:nvPicPr>
          <p:cNvPr id="25" name="Picture 24" descr="levy-logo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STANDARDS · 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THE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PROFILE. PACKET. LIVE STATUS.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How the submission portal is organized.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WORKSPACE · 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2880360"/>
            <a:ext cx="10424160" cy="594360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154680"/>
            <a:ext cx="914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0" i="0">
                <a:solidFill>
                  <a:srgbClr val="0F1E35"/>
                </a:solidFill>
                <a:latin typeface="Bebas Neu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2004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VISITOR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5661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 i="0">
                <a:solidFill>
                  <a:srgbClr val="0F1E35"/>
                </a:solidFill>
                <a:latin typeface="Bebas Neue"/>
              </a:rPr>
              <a:t>TELL US WHO IS SUBMITTING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9768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FULL 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61772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9768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ORGANIZATION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1772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553212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7320" y="585216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53212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DESTINATION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585216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676656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SUBMISSION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708660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676656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DUE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7086600"/>
            <a:ext cx="4389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50040" y="2880360"/>
            <a:ext cx="5532120" cy="59436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15800" y="320040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4002B"/>
                </a:solidFill>
                <a:latin typeface="Calibri"/>
              </a:rPr>
              <a:t>SUBMISSION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15800" y="3749039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400" b="0" i="0">
                <a:solidFill>
                  <a:srgbClr val="E4002B"/>
                </a:solidFill>
                <a:latin typeface="Bebas Neue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15800" y="48463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Bebas Neue"/>
              </a:rPr>
              <a:t>READY FOR 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15800" y="54406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D7DADD"/>
                </a:solidFill>
                <a:latin typeface="Georgia"/>
              </a:rPr>
              <a:t>Complete the visitor profile and attach at least one file to generate a submission receipt.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15800" y="7040880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5787B"/>
                </a:solidFill>
                <a:latin typeface="Calibri"/>
              </a:rPr>
              <a:t>PACKET COMPLETION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0" y="69951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E4002B"/>
                </a:solidFill>
                <a:latin typeface="Calibri"/>
              </a:rPr>
              <a:t>100%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115800" y="7452360"/>
            <a:ext cx="4754880" cy="128016"/>
          </a:xfrm>
          <a:prstGeom prst="rect">
            <a:avLst/>
          </a:prstGeom>
          <a:solidFill>
            <a:srgbClr val="2A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115800" y="7452360"/>
            <a:ext cx="4754880" cy="12801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50" b="1" i="0">
                <a:solidFill>
                  <a:srgbClr val="E400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1133856"/>
            <a:ext cx="5486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1" i="0">
                <a:solidFill>
                  <a:srgbClr val="E4002B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655064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50" b="0" i="0">
                <a:solidFill>
                  <a:srgbClr val="0F1E35"/>
                </a:solidFill>
                <a:latin typeface="Bebas Neue"/>
              </a:rPr>
              <a:t>WHAT CHANGES WHEN INTAKE IS SHARP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0" y="1737360"/>
            <a:ext cx="4297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585B5E"/>
                </a:solidFill>
                <a:latin typeface="Georgia"/>
              </a:rPr>
              <a:t>Operating results of a clean visitor packet.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2120" y="50292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950" b="0" i="0">
                <a:solidFill>
                  <a:srgbClr val="BCC0C4"/>
                </a:solidFill>
                <a:latin typeface="Calibri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2468880"/>
            <a:ext cx="16312896" cy="15875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vy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9509760"/>
            <a:ext cx="960120" cy="731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0" y="9582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  <a:latin typeface="Calibri"/>
              </a:rPr>
              <a:t>OUTCOMES · 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2971800"/>
            <a:ext cx="3977639" cy="53949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07592" y="338328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 i="0">
                <a:solidFill>
                  <a:srgbClr val="E4002B"/>
                </a:solidFill>
                <a:latin typeface="Bebas Neu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4389120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0F1E35"/>
                </a:solidFill>
                <a:latin typeface="Bebas Neue"/>
              </a:rPr>
              <a:t>FASTER HANDOFFS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57607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Sales, Ops, Culinary, and Finance start from one complete packet.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39512" y="2971800"/>
            <a:ext cx="3977639" cy="53949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8328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 i="0">
                <a:solidFill>
                  <a:srgbClr val="E4002B"/>
                </a:solidFill>
                <a:latin typeface="Bebas Neue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4389120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0F1E35"/>
                </a:solidFill>
                <a:latin typeface="Bebas Neue"/>
              </a:rPr>
              <a:t>LESS REWORK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57607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Required context travels with the files — fewer follow-up emails.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91472" y="2971800"/>
            <a:ext cx="3977639" cy="53949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2" y="338328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 i="0">
                <a:solidFill>
                  <a:srgbClr val="E4002B"/>
                </a:solidFill>
                <a:latin typeface="Bebas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2" y="4389120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0F1E35"/>
                </a:solidFill>
                <a:latin typeface="Bebas Neue"/>
              </a:rPr>
              <a:t>CLEAR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1512" y="57607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Destination team selection removes ambiguity on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43432" y="2971800"/>
            <a:ext cx="3977639" cy="5394960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063472" y="338328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 i="0">
                <a:solidFill>
                  <a:srgbClr val="E4002B"/>
                </a:solidFill>
                <a:latin typeface="Bebas Neue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63472" y="4389120"/>
            <a:ext cx="3291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0F1E35"/>
                </a:solidFill>
                <a:latin typeface="Bebas Neue"/>
              </a:rPr>
              <a:t>AUDIT-READY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63472" y="57607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85B5E"/>
                </a:solidFill>
                <a:latin typeface="Georgia"/>
              </a:rPr>
              <a:t>Receipts create a lightweight history of what was submitted.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wide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326880" cy="102870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0" y="0"/>
            <a:ext cx="1280160" cy="10287000"/>
          </a:xfrm>
          <a:prstGeom prst="rect">
            <a:avLst/>
          </a:prstGeom>
          <a:solidFill>
            <a:srgbClr val="08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828800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0" i="0">
                <a:solidFill>
                  <a:srgbClr val="FFFFFF"/>
                </a:solidFill>
                <a:latin typeface="Calibri"/>
              </a:rPr>
              <a:t>FISCAL YEAR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2194560"/>
            <a:ext cx="640080" cy="4445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74320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7200" b="0" i="0">
                <a:solidFill>
                  <a:srgbClr val="FFFFFF"/>
                </a:solidFill>
                <a:latin typeface="Bebas Neue"/>
              </a:rPr>
              <a:t>SUBMIT THE PACKET.</a:t>
            </a:r>
          </a:p>
          <a:p>
            <a:pPr algn="l">
              <a:spcAft>
                <a:spcPts val="200"/>
              </a:spcAft>
            </a:pPr>
            <a:r>
              <a:rPr sz="7200" b="0" i="0">
                <a:solidFill>
                  <a:srgbClr val="FFFFFF"/>
                </a:solidFill>
                <a:latin typeface="Bebas Neue"/>
              </a:rPr>
              <a:t>OWN THE REVIEW.</a:t>
            </a:r>
          </a:p>
          <a:p>
            <a:pPr algn="l">
              <a:spcAft>
                <a:spcPts val="200"/>
              </a:spcAft>
            </a:pPr>
            <a:r>
              <a:rPr sz="7200" b="0" i="0">
                <a:solidFill>
                  <a:srgbClr val="FFFFFF"/>
                </a:solidFill>
                <a:latin typeface="Bebas Neue"/>
              </a:rPr>
              <a:t>MOVE THE</a:t>
            </a:r>
          </a:p>
          <a:p>
            <a:pPr algn="l">
              <a:spcAft>
                <a:spcPts val="200"/>
              </a:spcAft>
            </a:pPr>
            <a:r>
              <a:rPr sz="7200" b="0" i="0">
                <a:solidFill>
                  <a:srgbClr val="E4002B"/>
                </a:solidFill>
                <a:latin typeface="Bebas Neue"/>
              </a:rPr>
              <a:t>BUSINESS.</a:t>
            </a:r>
          </a:p>
        </p:txBody>
      </p:sp>
      <p:pic>
        <p:nvPicPr>
          <p:cNvPr id="9" name="Picture 8" descr="levy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9326880"/>
            <a:ext cx="1097280" cy="835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0" y="9509760"/>
            <a:ext cx="5943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D7DADD"/>
                </a:solidFill>
                <a:latin typeface="Calibri"/>
              </a:rPr>
              <a:t>GROUP SALES · VISITOR INTAKE · FY2026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