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wide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89320" y="0"/>
            <a:ext cx="822960" cy="6858000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473"/>
                </a:solidFill>
                <a:latin typeface="Arial"/>
              </a:rPr>
              <a:t>GROUP SALES  ·  VISITOR INTAKE  ·  FY2026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64008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66928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800" b="1">
                <a:solidFill>
                  <a:srgbClr val="FFFFFF"/>
                </a:solidFill>
                <a:latin typeface="Arial Black"/>
              </a:rPr>
              <a:t>VISITOR
FILE
SUBMISSIONS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51206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>
                <a:solidFill>
                  <a:srgbClr val="D7DEE7"/>
                </a:solidFill>
                <a:latin typeface="Arial"/>
              </a:rPr>
              <a:t>One secure packet for venue documents, event files, and review materials — routed to the right team with a clear receipt.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57800"/>
            <a:ext cx="2148840" cy="502920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21808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SECURE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53492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8D0DB"/>
                </a:solidFill>
                <a:latin typeface="Arial"/>
              </a:rPr>
              <a:t>Editable PowerPoint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B2C0"/>
                </a:solidFill>
                <a:latin typeface="Arial"/>
              </a:rPr>
              <a:t>Levy Group Sales  |  Visitor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B2C0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473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71528"/>
                </a:solidFill>
                <a:latin typeface="Arial Black"/>
              </a:rPr>
              <a:t>What this brief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50292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05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3473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71528"/>
                </a:solidFill>
                <a:latin typeface="Arial"/>
              </a:rPr>
              <a:t>The intake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Why scattered visitor files slow reviews and sales handoffs.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005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3473"/>
                </a:solidFill>
                <a:latin typeface="Arial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2608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71528"/>
                </a:solidFill>
                <a:latin typeface="Arial"/>
              </a:rPr>
              <a:t>The three-step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1840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Profile, packet, receipt — a single path for every submission.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05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3473"/>
                </a:solidFill>
                <a:latin typeface="Arial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3192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71528"/>
                </a:solidFill>
                <a:latin typeface="Arial"/>
              </a:rPr>
              <a:t>What routes 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97680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Teams, file types, and packet standards that keep work moving.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1005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3473"/>
                </a:solidFill>
                <a:latin typeface="Arial Black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71528"/>
                </a:solidFill>
                <a:latin typeface="Arial"/>
              </a:rPr>
              <a:t>Operating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303520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Faster reviews, cleaner handoffs, and a repeatable visitor process.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Visitor File Submissions  |  Agenda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473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Arial Black"/>
              </a:rPr>
              <a:t>Visitor files arrive
scattered. Reviews stall.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88920"/>
            <a:ext cx="73152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5303520" cy="1143000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109728" cy="1143000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01568"/>
            <a:ext cx="4663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Email chains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40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C2CF"/>
                </a:solidFill>
                <a:latin typeface="Arial"/>
              </a:rPr>
              <a:t>Documents land in inboxes without context, owner, or due 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200400"/>
            <a:ext cx="5303520" cy="1143000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3200400"/>
            <a:ext cx="109728" cy="1143000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401568"/>
            <a:ext cx="4663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Missing packets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49040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C2CF"/>
                </a:solidFill>
                <a:latin typeface="Arial"/>
              </a:rPr>
              <a:t>Photos, contracts, menus, and reviews arrive in pieces.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5303520" cy="1143000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109728" cy="1143000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27448"/>
            <a:ext cx="4663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Wrong destination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C2CF"/>
                </a:solidFill>
                <a:latin typeface="Arial"/>
              </a:rPr>
              <a:t>Culinary, Finance, and Ops get work meant for someone else.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526280"/>
            <a:ext cx="5303520" cy="1143000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526280"/>
            <a:ext cx="109728" cy="1143000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727448"/>
            <a:ext cx="4663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No receipt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074920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C2CF"/>
                </a:solidFill>
                <a:latin typeface="Arial"/>
              </a:rPr>
              <a:t>Teams cannot prove what was submitted or when.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B2C0"/>
                </a:solidFill>
                <a:latin typeface="Arial"/>
              </a:rPr>
              <a:t>Visitor File Submissions  | 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B2C0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473"/>
                </a:solidFill>
                <a:latin typeface="Arial"/>
              </a:rPr>
              <a:t>THE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71528"/>
                </a:solidFill>
                <a:latin typeface="Arial Black"/>
              </a:rPr>
              <a:t>Three steps. One packet.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7280"/>
                </a:solidFill>
                <a:latin typeface="Arial"/>
              </a:rPr>
              <a:t>Every visitor submission follows the same path — clear for guests, actionable for teams.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64008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43473"/>
                </a:solidFill>
                <a:latin typeface="Arial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71528"/>
                </a:solidFill>
                <a:latin typeface="Arial"/>
              </a:rPr>
              <a:t>VISITOR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33832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Name, organization, email, destination team, submission type, and due 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286000"/>
            <a:ext cx="13716" cy="2926080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148840"/>
            <a:ext cx="64008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4688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43473"/>
                </a:solidFill>
                <a:latin typeface="Arial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291840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71528"/>
                </a:solidFill>
                <a:latin typeface="Arial"/>
              </a:rPr>
              <a:t>FILES ATTACHED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886200"/>
            <a:ext cx="33832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Drop PDFs, PPTX, DOCX, XLSX, images, or ZIP packets up to 25 MB each.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2286000"/>
            <a:ext cx="13716" cy="2926080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148840"/>
            <a:ext cx="64008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4688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43473"/>
                </a:solidFill>
                <a:latin typeface="Arial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91840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71528"/>
                </a:solidFill>
                <a:latin typeface="Arial"/>
              </a:rPr>
              <a:t>RECEIPT ISSUED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886200"/>
            <a:ext cx="33832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Confirm approval for review and generate a submission receipt for the trail.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Visitor File Submissions  | 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473"/>
                </a:solidFill>
                <a:latin typeface="Arial"/>
              </a:rPr>
              <a:t>DESTINATION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FFFFFF"/>
                </a:solidFill>
                <a:latin typeface="Arial Black"/>
              </a:rPr>
              <a:t>Route once. Reach the right desk.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68580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881360" cy="658368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28016" cy="658368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Group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76272"/>
            <a:ext cx="6675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B8C2CF"/>
                </a:solidFill>
                <a:latin typeface="Arial"/>
              </a:rPr>
              <a:t>Business reviews, proposals, and visitor kits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10881360" cy="658368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128016" cy="658368"/>
          </a:xfrm>
          <a:prstGeom prst="rect">
            <a:avLst/>
          </a:prstGeom>
          <a:solidFill>
            <a:srgbClr val="D48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Event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53512"/>
            <a:ext cx="6675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B8C2CF"/>
                </a:solidFill>
                <a:latin typeface="Arial"/>
              </a:rPr>
              <a:t>Run-of-show files, photos, and logistics packets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10881360" cy="658368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128016" cy="658368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0332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30752"/>
            <a:ext cx="6675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B8C2CF"/>
                </a:solidFill>
                <a:latin typeface="Arial"/>
              </a:rPr>
              <a:t>Contracts, invoices, and commercial paperwork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43400"/>
            <a:ext cx="10881360" cy="658368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343400"/>
            <a:ext cx="128016" cy="658368"/>
          </a:xfrm>
          <a:prstGeom prst="rect">
            <a:avLst/>
          </a:prstGeom>
          <a:solidFill>
            <a:srgbClr val="D48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Culinary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507992"/>
            <a:ext cx="6675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B8C2CF"/>
                </a:solidFill>
                <a:latin typeface="Arial"/>
              </a:rPr>
              <a:t>Menus, tasting notes, and sales kits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0640"/>
            <a:ext cx="10881360" cy="658368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120640"/>
            <a:ext cx="128016" cy="658368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578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Venue Leadership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285232"/>
            <a:ext cx="6675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B8C2CF"/>
                </a:solidFill>
                <a:latin typeface="Arial"/>
              </a:rPr>
              <a:t>Executive summaries and decision packets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B2C0"/>
                </a:solidFill>
                <a:latin typeface="Arial"/>
              </a:rPr>
              <a:t>Visitor File Submissions  | 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B2C0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473"/>
                </a:solidFill>
                <a:latin typeface="Arial"/>
              </a:rPr>
              <a:t>SUBMISSION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071528"/>
                </a:solidFill>
                <a:latin typeface="Arial Black"/>
              </a:rPr>
              <a:t>Built for the files we actually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0292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3473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071528"/>
                </a:solidFill>
                <a:latin typeface="Arial"/>
              </a:rPr>
              <a:t>Annual business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Structured visitor and account review materials.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783080"/>
            <a:ext cx="50292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01168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3473"/>
                </a:solidFill>
                <a:latin typeface="Arial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071528"/>
                </a:solidFill>
                <a:latin typeface="Arial"/>
              </a:rPr>
              <a:t>Venue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260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Performance notes, walkthroughs, and opportunity packs.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783080"/>
            <a:ext cx="50292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3473"/>
                </a:solidFill>
                <a:latin typeface="Arial Blac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071528"/>
                </a:solidFill>
                <a:latin typeface="Arial"/>
              </a:rPr>
              <a:t>Event photos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Visual proof and atmosphere for sales storytelling.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94760"/>
            <a:ext cx="50292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3473"/>
                </a:solidFill>
                <a:latin typeface="Arial Black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071528"/>
                </a:solidFill>
                <a:latin typeface="Arial"/>
              </a:rPr>
              <a:t>Contract or invoice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Commercial documents ready for Finance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794760"/>
            <a:ext cx="50292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02336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3473"/>
                </a:solidFill>
                <a:latin typeface="Arial Black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48056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071528"/>
                </a:solidFill>
                <a:latin typeface="Arial"/>
              </a:rPr>
              <a:t>Menu or sales 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93776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Culinary and offering assets for pitching.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94760"/>
            <a:ext cx="50292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02336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3473"/>
                </a:solidFill>
                <a:latin typeface="Arial Black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48056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071528"/>
                </a:solidFill>
                <a:latin typeface="Arial"/>
              </a:rPr>
              <a:t>Notes for the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3776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Context, event names, and review requests that travel with the packet.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Visitor File Submissions  |  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0"/>
            <a:ext cx="51435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98079" y="0"/>
            <a:ext cx="502920" cy="68580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473"/>
                </a:solidFill>
                <a:latin typeface="Arial"/>
              </a:rPr>
              <a:t>PACKET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6583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Clean packets.
Faster reviews.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64008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164592" cy="16459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621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D7DEE7"/>
                </a:solidFill>
                <a:latin typeface="Arial"/>
              </a:rPr>
              <a:t>Accepted: PDF, PPTX, DOCX, XLSX, PNG, JPG, ZIP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164592" cy="16459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621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D7DEE7"/>
                </a:solidFill>
                <a:latin typeface="Arial"/>
              </a:rPr>
              <a:t>Size limit: up to 25 MB per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164592" cy="16459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20440"/>
            <a:ext cx="621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D7DEE7"/>
                </a:solidFill>
                <a:latin typeface="Arial"/>
              </a:rPr>
              <a:t>Include visitor profile + destination 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799"/>
            <a:ext cx="164592" cy="16459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69079"/>
            <a:ext cx="621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D7DEE7"/>
                </a:solidFill>
                <a:latin typeface="Arial"/>
              </a:rPr>
              <a:t>Add notes with event names and review asks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164592" cy="16459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621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D7DEE7"/>
                </a:solidFill>
                <a:latin typeface="Arial"/>
              </a:rPr>
              <a:t>Confirm files are approved before submit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12080"/>
            <a:ext cx="164592" cy="16459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166360"/>
            <a:ext cx="621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D7DEE7"/>
                </a:solidFill>
                <a:latin typeface="Arial"/>
              </a:rPr>
              <a:t>Keep one packet per review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B2C0"/>
                </a:solidFill>
                <a:latin typeface="Arial"/>
              </a:rPr>
              <a:t>Visitor File Submissions  |  Standards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B2C0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473"/>
                </a:solidFill>
                <a:latin typeface="Arial"/>
              </a:rPr>
              <a:t>THE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071528"/>
                </a:solidFill>
                <a:latin typeface="Arial Black"/>
              </a:rPr>
              <a:t>Profile. Packet. Live status.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685800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1528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473"/>
                </a:solidFill>
                <a:latin typeface="Arial"/>
              </a:rPr>
              <a:t>VISITOR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71528"/>
                </a:solidFill>
                <a:latin typeface="Arial"/>
              </a:rPr>
              <a:t>Tell us who is submitting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FULL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17520"/>
            <a:ext cx="2834640" cy="384048"/>
          </a:xfrm>
          <a:prstGeom prst="rect">
            <a:avLst/>
          </a:prstGeom>
          <a:solidFill>
            <a:srgbClr val="F7F5E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4320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ORGANIZATION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3017520"/>
            <a:ext cx="2834640" cy="384048"/>
          </a:xfrm>
          <a:prstGeom prst="rect">
            <a:avLst/>
          </a:prstGeom>
          <a:solidFill>
            <a:srgbClr val="F7F5E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EMAIL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886200"/>
            <a:ext cx="2834640" cy="384048"/>
          </a:xfrm>
          <a:prstGeom prst="rect">
            <a:avLst/>
          </a:prstGeom>
          <a:solidFill>
            <a:srgbClr val="F7F5E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36118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DESTINATION TEAM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3886200"/>
            <a:ext cx="2834640" cy="384048"/>
          </a:xfrm>
          <a:prstGeom prst="rect">
            <a:avLst/>
          </a:prstGeom>
          <a:solidFill>
            <a:srgbClr val="F7F5E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SUBMISSION 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754880"/>
            <a:ext cx="2834640" cy="384048"/>
          </a:xfrm>
          <a:prstGeom prst="rect">
            <a:avLst/>
          </a:prstGeom>
          <a:solidFill>
            <a:srgbClr val="F7F5E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448056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DUE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4754880"/>
            <a:ext cx="2834640" cy="384048"/>
          </a:xfrm>
          <a:prstGeom prst="rect">
            <a:avLst/>
          </a:prstGeom>
          <a:solidFill>
            <a:srgbClr val="F7F5E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554480"/>
            <a:ext cx="3749039" cy="429768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82880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3473"/>
                </a:solidFill>
                <a:latin typeface="Arial"/>
              </a:rPr>
              <a:t>SUBMISSION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28600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43473"/>
                </a:solidFill>
                <a:latin typeface="Arial Black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01752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READY FOR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474720"/>
            <a:ext cx="3200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8C2CF"/>
                </a:solidFill>
                <a:latin typeface="Arial"/>
              </a:rPr>
              <a:t>Complete the visitor profile and attach at least one file to generate a submission receipt.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66344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PACKET COMPLETION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6177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>
                <a:solidFill>
                  <a:srgbClr val="F43473"/>
                </a:solidFill>
                <a:latin typeface="Arial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4983480"/>
            <a:ext cx="3108960" cy="109728"/>
          </a:xfrm>
          <a:prstGeom prst="rect">
            <a:avLst/>
          </a:prstGeom>
          <a:solidFill>
            <a:srgbClr val="2A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4983480"/>
            <a:ext cx="3108960" cy="109728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Visitor File Submissions  |  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473"/>
                </a:solidFill>
                <a:latin typeface="Arial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FFFFFF"/>
                </a:solidFill>
                <a:latin typeface="Arial Black"/>
              </a:rPr>
              <a:t>What changes when intake is sharp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685800" cy="73152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697480" cy="3291840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3473"/>
                </a:solidFill>
                <a:latin typeface="Arial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2194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Faster handoffs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2194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8C2CF"/>
                </a:solidFill>
                <a:latin typeface="Arial"/>
              </a:rPr>
              <a:t>Sales, Ops, Culinary, and Finance start from one complete packet.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194560"/>
            <a:ext cx="2697480" cy="3291840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56032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3473"/>
                </a:solidFill>
                <a:latin typeface="Arial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383280"/>
            <a:ext cx="2194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 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4206240"/>
            <a:ext cx="2194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8C2CF"/>
                </a:solidFill>
                <a:latin typeface="Arial"/>
              </a:rPr>
              <a:t>Required context travels with the files — fewer follow-up emails.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2697480" cy="3291840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56032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3473"/>
                </a:solidFill>
                <a:latin typeface="Arial Black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83280"/>
            <a:ext cx="2194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Clear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206240"/>
            <a:ext cx="2194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8C2CF"/>
                </a:solidFill>
                <a:latin typeface="Arial"/>
              </a:rPr>
              <a:t>Destination team selection removes ambiguity on day 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194560"/>
            <a:ext cx="2697480" cy="3291840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56032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3473"/>
                </a:solidFill>
                <a:latin typeface="Arial Black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383280"/>
            <a:ext cx="2194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Audit-ready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4206240"/>
            <a:ext cx="2194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B8C2CF"/>
                </a:solidFill>
                <a:latin typeface="Arial"/>
              </a:rPr>
              <a:t>Receipts create a lightweight history of what was submitted.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B2C0"/>
                </a:solidFill>
                <a:latin typeface="Arial"/>
              </a:rPr>
              <a:t>Visitor File Submissions  | 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B2C0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wide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914400" cy="6858000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473"/>
                </a:solidFill>
                <a:latin typeface="Arial"/>
              </a:rPr>
              <a:t>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6692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Arial Black"/>
              </a:rPr>
              <a:t>Submit the packet.
Own the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3035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DEE7"/>
                </a:solidFill>
                <a:latin typeface="Arial"/>
              </a:rPr>
              <a:t>Use the visitor portal to send venue documents, event files, and review materials in one organized submission.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2834640" cy="548640"/>
          </a:xfrm>
          <a:prstGeom prst="rect">
            <a:avLst/>
          </a:prstGeom>
          <a:solidFill>
            <a:srgbClr val="F43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SUBMISSION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B2C0"/>
                </a:solidFill>
                <a:latin typeface="Arial"/>
              </a:rPr>
              <a:t>Group Sales  ·  Visitor Intake  ·  FY2026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B2C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