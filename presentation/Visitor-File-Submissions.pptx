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widesc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537960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89320" y="0"/>
            <a:ext cx="822960" cy="6858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GROUP SALES  ·  VISITOR INTAKE  ·  FY2026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5669280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5800" b="1">
                <a:solidFill>
                  <a:srgbClr val="FFFFFF"/>
                </a:solidFill>
                <a:latin typeface="Arial Black"/>
              </a:rPr>
              <a:t>VISITOR
FILE
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51206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>
                <a:solidFill>
                  <a:srgbClr val="D7DEE7"/>
                </a:solidFill>
                <a:latin typeface="Arial"/>
              </a:rPr>
              <a:t>One secure packet for venue documents, event files, and review materials — routed to the right team with a clear receipt.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57800"/>
            <a:ext cx="2148840" cy="50292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21808"/>
            <a:ext cx="2148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SECURE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5349240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C8D0DB"/>
                </a:solidFill>
                <a:latin typeface="Arial"/>
              </a:rPr>
              <a:t>Editable PowerPoint brief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Levy Group Sales  |  Visitor Intake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9144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071528"/>
                </a:solidFill>
                <a:latin typeface="Arial Black"/>
              </a:rPr>
              <a:t>What this brief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The intake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Why scattered visitor files slow reviews and sales handoffs.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92608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The three-step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184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Profile, packet, receipt — a single path for every submission.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93192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What routes 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9768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Teams, file types, and packet standards that keep work moving.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0584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71528"/>
                </a:solidFill>
                <a:latin typeface="Arial"/>
              </a:rPr>
              <a:t>Operating 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303520"/>
            <a:ext cx="8686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Faster reviews, cleaner handoffs, and a repeatable visitor process.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Agenda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Arial Black"/>
              </a:rPr>
              <a:t>Visitor files arrive
scattered. Reviews stall.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88920"/>
            <a:ext cx="7315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0156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Email chains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4904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Documents land in inboxes without context, owner, or due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320040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320040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40156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Missing packets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4904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Photos, contracts, menus, and reviews arrive in pieces.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52628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72744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Wrong destination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07492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Culinary, Finance, and Ops get work meant for someone else.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526280"/>
            <a:ext cx="5303520" cy="1143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526280"/>
            <a:ext cx="109728" cy="114300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27448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No receipt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5074920"/>
            <a:ext cx="46634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B8C2CF"/>
                </a:solidFill>
                <a:latin typeface="Arial"/>
              </a:rPr>
              <a:t>Teams cannot prove what was submitted or when.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THE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071528"/>
                </a:solidFill>
                <a:latin typeface="Arial Black"/>
              </a:rPr>
              <a:t>Three steps. One packet.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B7280"/>
                </a:solidFill>
                <a:latin typeface="Arial"/>
              </a:rPr>
              <a:t>Every visitor submission follows the same path — clear for guests, actionable for teams.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71528"/>
                </a:solidFill>
                <a:latin typeface="Arial"/>
              </a:rPr>
              <a:t>VISITOR DETAILS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33832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Name, organization, email, destination team, submission type, and due date.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286000"/>
            <a:ext cx="13716" cy="2926080"/>
          </a:xfrm>
          <a:prstGeom prst="rect">
            <a:avLst/>
          </a:prstGeom>
          <a:solidFill>
            <a:srgbClr val="D9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14884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4688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71528"/>
                </a:solidFill>
                <a:latin typeface="Arial"/>
              </a:rPr>
              <a:t>FILES ATTACHED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886200"/>
            <a:ext cx="33832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Drop PDFs, PPTX, DOCX, XLSX, images, or ZIP packets up to 25 MB each.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286000"/>
            <a:ext cx="13716" cy="2926080"/>
          </a:xfrm>
          <a:prstGeom prst="rect">
            <a:avLst/>
          </a:prstGeom>
          <a:solidFill>
            <a:srgbClr val="D9D4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14884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4688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291840"/>
            <a:ext cx="33832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71528"/>
                </a:solidFill>
                <a:latin typeface="Arial"/>
              </a:rPr>
              <a:t>RECEIPT ISSUED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886200"/>
            <a:ext cx="33832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B7280"/>
                </a:solidFill>
                <a:latin typeface="Arial"/>
              </a:rPr>
              <a:t>Confirm approval for review and generate a submission receipt for the trail.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DESTINATION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Arial Black"/>
              </a:rPr>
              <a:t>Route once. Reach the right desk.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68580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28016" cy="65836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Group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17627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Business reviews, proposals, and visitor kits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128016" cy="658368"/>
          </a:xfrm>
          <a:prstGeom prst="rect">
            <a:avLst/>
          </a:prstGeom>
          <a:solidFill>
            <a:srgbClr val="D48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2608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Event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95351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Run-of-show files, photos, and logistics packets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128016" cy="65836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033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73075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Contracts, invoices, and commercial paperwork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343400"/>
            <a:ext cx="128016" cy="658368"/>
          </a:xfrm>
          <a:prstGeom prst="rect">
            <a:avLst/>
          </a:prstGeom>
          <a:solidFill>
            <a:srgbClr val="D48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6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Culinary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50799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Menus, tasting notes, and sales kits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20640"/>
            <a:ext cx="10881360" cy="658368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20640"/>
            <a:ext cx="128016" cy="65836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5780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Venue Leadership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5285232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B8C2CF"/>
                </a:solidFill>
                <a:latin typeface="Arial"/>
              </a:rPr>
              <a:t>Executive summaries and decision packets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Teams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SUBMISSION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058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071528"/>
                </a:solidFill>
                <a:latin typeface="Arial Black"/>
              </a:rPr>
              <a:t>Built for the files we actually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Annual business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Structured visitor and account review materials.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78308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201168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6888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Venue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9260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Performance notes, walkthroughs, and opportunity packs.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78308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01168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6888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Event photos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92608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Visual proof and atmosphere for sales storytelling.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94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8056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Contract or invoice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Commercial documents ready for Finance review.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794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02336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48056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Menu or sales kit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937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Culinary and offering assets for pitching.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794760"/>
            <a:ext cx="50292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023360"/>
            <a:ext cx="33832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43473"/>
                </a:solidFill>
                <a:latin typeface="Arial Black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480560"/>
            <a:ext cx="33832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>
                <a:solidFill>
                  <a:srgbClr val="071528"/>
                </a:solidFill>
                <a:latin typeface="Arial"/>
              </a:rPr>
              <a:t>Notes for the team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937760"/>
            <a:ext cx="3383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Context, event names, and review requests that travel with the packet.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a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0"/>
            <a:ext cx="51435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498079" y="0"/>
            <a:ext cx="502920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PACKET STANDARDS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65836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FFFFFF"/>
                </a:solidFill>
                <a:latin typeface="Arial Black"/>
              </a:rPr>
              <a:t>Clean packets.
Faster reviews.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64008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Accepted: PDF, PPTX, DOCX, XLSX, PNG, JPG, ZIP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1752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7180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Size limit: up to 25 MB per 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6616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Include visitor profile + destination team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799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069079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Add notes with event names and review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344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61772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Confirm files are approved before submit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12080"/>
            <a:ext cx="164592" cy="16459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166360"/>
            <a:ext cx="6217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D7DEE7"/>
                </a:solidFill>
                <a:latin typeface="Arial"/>
              </a:rPr>
              <a:t>Keep one packet per review 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Standards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THE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0584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071528"/>
                </a:solidFill>
                <a:latin typeface="Arial Black"/>
              </a:rPr>
              <a:t>Profile. Packet. Live status.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68580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914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71528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5029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VISITOR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71528"/>
                </a:solidFill>
                <a:latin typeface="Arial"/>
              </a:rPr>
              <a:t>Tell us who is submitting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FULL 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4320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ORGANIZATION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301752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118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EMAIL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8620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36118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DESTINATION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88620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8056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SUBMISSION TYPE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75488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448056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DUE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4754880"/>
            <a:ext cx="2834640" cy="384048"/>
          </a:xfrm>
          <a:prstGeom prst="rect">
            <a:avLst/>
          </a:prstGeom>
          <a:solidFill>
            <a:srgbClr val="F7F5EF"/>
          </a:solidFill>
          <a:ln w="12700">
            <a:solidFill>
              <a:srgbClr val="D5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554480"/>
            <a:ext cx="3749039" cy="429768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28800"/>
            <a:ext cx="3200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F43473"/>
                </a:solidFill>
                <a:latin typeface="Arial"/>
              </a:rPr>
              <a:t>SUBMISSION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2286000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30175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READY FOR 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3474720"/>
            <a:ext cx="3200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Complete the visitor profile and attach at least one file to generate a submission receipt.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466344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6B7280"/>
                </a:solidFill>
                <a:latin typeface="Arial"/>
              </a:rPr>
              <a:t>PACKET COMPLETION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177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>
                <a:solidFill>
                  <a:srgbClr val="F43473"/>
                </a:solidFill>
                <a:latin typeface="Arial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4983480"/>
            <a:ext cx="3108960" cy="109728"/>
          </a:xfrm>
          <a:prstGeom prst="rect">
            <a:avLst/>
          </a:prstGeom>
          <a:solidFill>
            <a:srgbClr val="2A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4983480"/>
            <a:ext cx="3108960" cy="109728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Visitor File Submissions  |  Workspace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Arial Black"/>
              </a:rPr>
              <a:t>What changes when intake is sharp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685800" cy="73152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Faster handoffs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Sales, Ops, Culinary, and Finance start from one complete packet.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Less rework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Required context travels with the files — fewer follow-up emails.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Clear ownership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Destination team selection removes ambiguity on day one.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2194560"/>
            <a:ext cx="2697480" cy="329184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256032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F43473"/>
                </a:solidFill>
                <a:latin typeface="Arial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383280"/>
            <a:ext cx="21945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FFFFFF"/>
                </a:solidFill>
                <a:latin typeface="Arial"/>
              </a:rPr>
              <a:t>Audit-ready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4206240"/>
            <a:ext cx="21945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B8C2CF"/>
                </a:solidFill>
                <a:latin typeface="Arial"/>
              </a:rPr>
              <a:t>Receipts create a lightweight history of what was submitted.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Visitor File Submissions  |  Outcomes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widesc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71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914400" cy="6858000"/>
          </a:xfrm>
          <a:prstGeom prst="rect">
            <a:avLst/>
          </a:prstGeom>
          <a:solidFill>
            <a:srgbClr val="0D2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F43473"/>
                </a:solidFill>
                <a:latin typeface="Arial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6692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000" b="1">
                <a:solidFill>
                  <a:srgbClr val="FFFFFF"/>
                </a:solidFill>
                <a:latin typeface="Arial Black"/>
              </a:rPr>
              <a:t>Submit the packet.
Own the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7DEE7"/>
                </a:solidFill>
                <a:latin typeface="Arial"/>
              </a:rPr>
              <a:t>Use the visitor portal to send venue documents, event files, and review materials in one organized submission.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937760"/>
            <a:ext cx="2834640" cy="548640"/>
          </a:xfrm>
          <a:prstGeom prst="rect">
            <a:avLst/>
          </a:prstGeom>
          <a:solidFill>
            <a:srgbClr val="F434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2834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OPEN SUBMISSION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A8B2C0"/>
                </a:solidFill>
                <a:latin typeface="Arial"/>
              </a:rPr>
              <a:t>Group Sales  ·  Visitor Intake  ·  FY2026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A8B2C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