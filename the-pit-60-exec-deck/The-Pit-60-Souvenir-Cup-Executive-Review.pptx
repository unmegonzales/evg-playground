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ckup-60.png"/>
          <p:cNvPicPr>
            <a:picLocks noChangeAspect="1"/>
          </p:cNvPicPr>
          <p:nvPr/>
        </p:nvPicPr>
        <p:blipFill>
          <a:blip r:embed="rId2"/>
          <a:stretch>
            <a:fillRect/>
          </a:stretch>
        </p:blipFill>
        <p:spPr>
          <a:xfrm>
            <a:off x="2606040" y="1051560"/>
            <a:ext cx="2560320" cy="2560320"/>
          </a:xfrm>
          <a:prstGeom prst="rect">
            <a:avLst/>
          </a:prstGeom>
        </p:spPr>
      </p:pic>
      <p:sp>
        <p:nvSpPr>
          <p:cNvPr id="5" name="TextBox 4"/>
          <p:cNvSpPr txBox="1"/>
          <p:nvPr/>
        </p:nvSpPr>
        <p:spPr>
          <a:xfrm>
            <a:off x="457200" y="3840480"/>
            <a:ext cx="6858000" cy="274320"/>
          </a:xfrm>
          <a:prstGeom prst="rect">
            <a:avLst/>
          </a:prstGeom>
          <a:noFill/>
        </p:spPr>
        <p:txBody>
          <a:bodyPr wrap="square" anchor="t"/>
          <a:lstStyle/>
          <a:p>
            <a:pPr algn="ctr"/>
            <a:r>
              <a:rPr sz="1100" b="1">
                <a:solidFill>
                  <a:srgbClr val="BA0C2F"/>
                </a:solidFill>
                <a:latin typeface="Arial"/>
              </a:rPr>
              <a:t>UNM ATHLETICS  ·  THE PIT  ·  POWERED BY NUSENDA</a:t>
            </a:r>
          </a:p>
        </p:txBody>
      </p:sp>
      <p:sp>
        <p:nvSpPr>
          <p:cNvPr id="6" name="TextBox 5"/>
          <p:cNvSpPr txBox="1"/>
          <p:nvPr/>
        </p:nvSpPr>
        <p:spPr>
          <a:xfrm>
            <a:off x="457200" y="4206240"/>
            <a:ext cx="6858000" cy="1280160"/>
          </a:xfrm>
          <a:prstGeom prst="rect">
            <a:avLst/>
          </a:prstGeom>
          <a:noFill/>
        </p:spPr>
        <p:txBody>
          <a:bodyPr wrap="square" anchor="t"/>
          <a:lstStyle/>
          <a:p>
            <a:pPr algn="ctr"/>
            <a:r>
              <a:rPr sz="3600" b="1">
                <a:solidFill>
                  <a:srgbClr val="FFFFFF"/>
                </a:solidFill>
                <a:latin typeface="Arial"/>
              </a:rPr>
              <a:t>32 OZ SOUVENIR CUP</a:t>
            </a:r>
          </a:p>
        </p:txBody>
      </p:sp>
      <p:sp>
        <p:nvSpPr>
          <p:cNvPr id="7" name="TextBox 6"/>
          <p:cNvSpPr txBox="1"/>
          <p:nvPr/>
        </p:nvSpPr>
        <p:spPr>
          <a:xfrm>
            <a:off x="457200" y="5440680"/>
            <a:ext cx="6858000" cy="365760"/>
          </a:xfrm>
          <a:prstGeom prst="rect">
            <a:avLst/>
          </a:prstGeom>
          <a:noFill/>
        </p:spPr>
        <p:txBody>
          <a:bodyPr wrap="square" anchor="t"/>
          <a:lstStyle/>
          <a:p>
            <a:pPr algn="ctr"/>
            <a:r>
              <a:rPr sz="1800" b="0">
                <a:solidFill>
                  <a:srgbClr val="F5F0E8"/>
                </a:solidFill>
                <a:latin typeface="Arial"/>
              </a:rPr>
              <a:t>60th Anniversary  ·  Concept Review</a:t>
            </a:r>
          </a:p>
        </p:txBody>
      </p:sp>
      <p:sp>
        <p:nvSpPr>
          <p:cNvPr id="8" name="Rectangle 7"/>
          <p:cNvSpPr/>
          <p:nvPr/>
        </p:nvSpPr>
        <p:spPr>
          <a:xfrm>
            <a:off x="3383280" y="5943600"/>
            <a:ext cx="1005840" cy="36576"/>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217920"/>
            <a:ext cx="5943600" cy="1005840"/>
          </a:xfrm>
          <a:prstGeom prst="rect">
            <a:avLst/>
          </a:prstGeom>
          <a:noFill/>
        </p:spPr>
        <p:txBody>
          <a:bodyPr wrap="square" anchor="t"/>
          <a:lstStyle/>
          <a:p>
            <a:pPr algn="ctr"/>
            <a:r>
              <a:rPr sz="1300" b="0">
                <a:solidFill>
                  <a:srgbClr val="C8C2B6"/>
                </a:solidFill>
                <a:latin typeface="Arial"/>
              </a:rPr>
              <a:t>Vertical print handout for executive review.
Seven prototype faces. One required lockup. Not a production file.</a:t>
            </a:r>
          </a:p>
        </p:txBody>
      </p:sp>
      <p:sp>
        <p:nvSpPr>
          <p:cNvPr id="10" name="TextBox 9"/>
          <p:cNvSpPr txBox="1"/>
          <p:nvPr/>
        </p:nvSpPr>
        <p:spPr>
          <a:xfrm>
            <a:off x="457200" y="8778240"/>
            <a:ext cx="6858000" cy="640080"/>
          </a:xfrm>
          <a:prstGeom prst="rect">
            <a:avLst/>
          </a:prstGeom>
          <a:noFill/>
        </p:spPr>
        <p:txBody>
          <a:bodyPr wrap="square" anchor="t"/>
          <a:lstStyle/>
          <a:p>
            <a:pPr algn="ctr"/>
            <a:r>
              <a:rPr sz="1000" b="0">
                <a:solidFill>
                  <a:srgbClr val="8A8A8A"/>
                </a:solidFill>
                <a:latin typeface="Arial"/>
              </a:rPr>
              <a:t>SEPTEMBER 2026
PACKAGING STUDY  ·  INTERNAL USE ONLY</a:t>
            </a:r>
          </a:p>
        </p:txBody>
      </p:sp>
      <p:sp>
        <p:nvSpPr>
          <p:cNvPr id="11" name="Rectangle 10"/>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14" name="TextBox 13"/>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6858000" cy="228600"/>
          </a:xfrm>
          <a:prstGeom prst="rect">
            <a:avLst/>
          </a:prstGeom>
          <a:noFill/>
        </p:spPr>
        <p:txBody>
          <a:bodyPr wrap="square" anchor="t"/>
          <a:lstStyle/>
          <a:p>
            <a:pPr algn="l"/>
            <a:r>
              <a:rPr sz="1000" b="1">
                <a:solidFill>
                  <a:srgbClr val="BA0C2F"/>
                </a:solidFill>
                <a:latin typeface="Arial"/>
              </a:rPr>
              <a:t>01  —  THE ASSIGNMENT</a:t>
            </a:r>
          </a:p>
        </p:txBody>
      </p:sp>
      <p:sp>
        <p:nvSpPr>
          <p:cNvPr id="5" name="TextBox 4"/>
          <p:cNvSpPr txBox="1"/>
          <p:nvPr/>
        </p:nvSpPr>
        <p:spPr>
          <a:xfrm>
            <a:off x="457200" y="566928"/>
            <a:ext cx="6858000" cy="640080"/>
          </a:xfrm>
          <a:prstGeom prst="rect">
            <a:avLst/>
          </a:prstGeom>
          <a:noFill/>
        </p:spPr>
        <p:txBody>
          <a:bodyPr wrap="square" anchor="t"/>
          <a:lstStyle/>
          <a:p>
            <a:pPr algn="l"/>
            <a:r>
              <a:rPr sz="2400" b="1">
                <a:solidFill>
                  <a:srgbClr val="FFFFFF"/>
                </a:solidFill>
                <a:latin typeface="Arial"/>
              </a:rPr>
              <a:t>What leadership is being asked to review</a:t>
            </a:r>
          </a:p>
        </p:txBody>
      </p:sp>
      <p:sp>
        <p:nvSpPr>
          <p:cNvPr id="6" name="TextBox 5"/>
          <p:cNvSpPr txBox="1"/>
          <p:nvPr/>
        </p:nvSpPr>
        <p:spPr>
          <a:xfrm>
            <a:off x="457200" y="1371600"/>
            <a:ext cx="6858000" cy="1051560"/>
          </a:xfrm>
          <a:prstGeom prst="rect">
            <a:avLst/>
          </a:prstGeom>
          <a:noFill/>
        </p:spPr>
        <p:txBody>
          <a:bodyPr wrap="square" anchor="t"/>
          <a:lstStyle/>
          <a:p>
            <a:pPr algn="l"/>
            <a:r>
              <a:rPr sz="1300" b="0">
                <a:solidFill>
                  <a:srgbClr val="F5F0E8"/>
                </a:solidFill>
                <a:latin typeface="Arial"/>
              </a:rPr>
              <a:t>Design a 32 oz arena souvenir cup for the 60th anniversary season of University Arena — The Pit (1966–2026). Administration supplied one required mark and no other art direction. This packet translates the live prototype into a printed review.</a:t>
            </a:r>
          </a:p>
        </p:txBody>
      </p:sp>
      <p:sp>
        <p:nvSpPr>
          <p:cNvPr id="7" name="Rectangle 6"/>
          <p:cNvSpPr/>
          <p:nvPr/>
        </p:nvSpPr>
        <p:spPr>
          <a:xfrm>
            <a:off x="457200" y="2606040"/>
            <a:ext cx="2194560" cy="2148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60604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88920"/>
            <a:ext cx="1920240" cy="274320"/>
          </a:xfrm>
          <a:prstGeom prst="rect">
            <a:avLst/>
          </a:prstGeom>
          <a:noFill/>
        </p:spPr>
        <p:txBody>
          <a:bodyPr wrap="square" anchor="t"/>
          <a:lstStyle/>
          <a:p>
            <a:pPr algn="l"/>
            <a:r>
              <a:rPr sz="1000" b="1">
                <a:solidFill>
                  <a:srgbClr val="BA0C2F"/>
                </a:solidFill>
                <a:latin typeface="Arial"/>
              </a:rPr>
              <a:t>VESSEL</a:t>
            </a:r>
          </a:p>
        </p:txBody>
      </p:sp>
      <p:sp>
        <p:nvSpPr>
          <p:cNvPr id="10" name="TextBox 9"/>
          <p:cNvSpPr txBox="1"/>
          <p:nvPr/>
        </p:nvSpPr>
        <p:spPr>
          <a:xfrm>
            <a:off x="594360" y="3108960"/>
            <a:ext cx="1920240" cy="1463040"/>
          </a:xfrm>
          <a:prstGeom prst="rect">
            <a:avLst/>
          </a:prstGeom>
          <a:noFill/>
        </p:spPr>
        <p:txBody>
          <a:bodyPr wrap="square" anchor="t"/>
          <a:lstStyle/>
          <a:p>
            <a:pPr algn="l"/>
            <a:r>
              <a:rPr sz="1100" b="0">
                <a:solidFill>
                  <a:srgbClr val="F5F0E8"/>
                </a:solidFill>
                <a:latin typeface="Arial"/>
              </a:rPr>
              <a:t>32 fl oz plastic stadium cup
~7 in. tall, tapered
Full-wrap print, 10.5 × 5.75 in.
0.25 in. bleed  ·  0.4 in. safe zone</a:t>
            </a:r>
          </a:p>
        </p:txBody>
      </p:sp>
      <p:sp>
        <p:nvSpPr>
          <p:cNvPr id="11" name="Rectangle 10"/>
          <p:cNvSpPr/>
          <p:nvPr/>
        </p:nvSpPr>
        <p:spPr>
          <a:xfrm>
            <a:off x="2743200" y="2606040"/>
            <a:ext cx="2194560" cy="2148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260604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2788920"/>
            <a:ext cx="1920240" cy="274320"/>
          </a:xfrm>
          <a:prstGeom prst="rect">
            <a:avLst/>
          </a:prstGeom>
          <a:noFill/>
        </p:spPr>
        <p:txBody>
          <a:bodyPr wrap="square" anchor="t"/>
          <a:lstStyle/>
          <a:p>
            <a:pPr algn="l"/>
            <a:r>
              <a:rPr sz="1000" b="1">
                <a:solidFill>
                  <a:srgbClr val="BA0C2F"/>
                </a:solidFill>
                <a:latin typeface="Arial"/>
              </a:rPr>
              <a:t>REQUIRED MARK</a:t>
            </a:r>
          </a:p>
        </p:txBody>
      </p:sp>
      <p:sp>
        <p:nvSpPr>
          <p:cNvPr id="14" name="TextBox 13"/>
          <p:cNvSpPr txBox="1"/>
          <p:nvPr/>
        </p:nvSpPr>
        <p:spPr>
          <a:xfrm>
            <a:off x="2880360" y="3108960"/>
            <a:ext cx="1920240" cy="1463040"/>
          </a:xfrm>
          <a:prstGeom prst="rect">
            <a:avLst/>
          </a:prstGeom>
          <a:noFill/>
        </p:spPr>
        <p:txBody>
          <a:bodyPr wrap="square" anchor="t"/>
          <a:lstStyle/>
          <a:p>
            <a:pPr algn="l"/>
            <a:r>
              <a:rPr sz="1100" b="0">
                <a:solidFill>
                  <a:srgbClr val="F5F0E8"/>
                </a:solidFill>
                <a:latin typeface="Arial"/>
              </a:rPr>
              <a:t>Official 60 Years lockup, unaltered.
1966 / 2026  ·  The Pit
Powered by Nusenda
Lobo shield  ·  Bob King signature</a:t>
            </a:r>
          </a:p>
        </p:txBody>
      </p:sp>
      <p:sp>
        <p:nvSpPr>
          <p:cNvPr id="15" name="Rectangle 14"/>
          <p:cNvSpPr/>
          <p:nvPr/>
        </p:nvSpPr>
        <p:spPr>
          <a:xfrm>
            <a:off x="5029200" y="2606040"/>
            <a:ext cx="2194560" cy="2148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260604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788920"/>
            <a:ext cx="1920240" cy="274320"/>
          </a:xfrm>
          <a:prstGeom prst="rect">
            <a:avLst/>
          </a:prstGeom>
          <a:noFill/>
        </p:spPr>
        <p:txBody>
          <a:bodyPr wrap="square" anchor="t"/>
          <a:lstStyle/>
          <a:p>
            <a:pPr algn="l"/>
            <a:r>
              <a:rPr sz="1000" b="1">
                <a:solidFill>
                  <a:srgbClr val="BA0C2F"/>
                </a:solidFill>
                <a:latin typeface="Arial"/>
              </a:rPr>
              <a:t>THIS PACKET</a:t>
            </a:r>
          </a:p>
        </p:txBody>
      </p:sp>
      <p:sp>
        <p:nvSpPr>
          <p:cNvPr id="18" name="TextBox 17"/>
          <p:cNvSpPr txBox="1"/>
          <p:nvPr/>
        </p:nvSpPr>
        <p:spPr>
          <a:xfrm>
            <a:off x="5166360" y="3108960"/>
            <a:ext cx="1920240" cy="1463040"/>
          </a:xfrm>
          <a:prstGeom prst="rect">
            <a:avLst/>
          </a:prstGeom>
          <a:noFill/>
        </p:spPr>
        <p:txBody>
          <a:bodyPr wrap="square" anchor="t"/>
          <a:lstStyle/>
          <a:p>
            <a:pPr algn="l"/>
            <a:r>
              <a:rPr sz="1100" b="0">
                <a:solidFill>
                  <a:srgbClr val="F5F0E8"/>
                </a:solidFill>
                <a:latin typeface="Arial"/>
              </a:rPr>
              <a:t>One page per concept: cup, wrap,
lockup placement, rights, and a
studio recommendation.
Prototypes. Not licensed for production.</a:t>
            </a:r>
          </a:p>
        </p:txBody>
      </p:sp>
      <p:sp>
        <p:nvSpPr>
          <p:cNvPr id="19" name="TextBox 18"/>
          <p:cNvSpPr txBox="1"/>
          <p:nvPr/>
        </p:nvSpPr>
        <p:spPr>
          <a:xfrm>
            <a:off x="457200" y="4983480"/>
            <a:ext cx="6858000" cy="274320"/>
          </a:xfrm>
          <a:prstGeom prst="rect">
            <a:avLst/>
          </a:prstGeom>
          <a:noFill/>
        </p:spPr>
        <p:txBody>
          <a:bodyPr wrap="square" anchor="t"/>
          <a:lstStyle/>
          <a:p>
            <a:pPr algn="l"/>
            <a:r>
              <a:rPr sz="1000" b="1">
                <a:solidFill>
                  <a:srgbClr val="BA0C2F"/>
                </a:solidFill>
                <a:latin typeface="Arial"/>
              </a:rPr>
              <a:t>HOW TO READ THE SET</a:t>
            </a:r>
          </a:p>
        </p:txBody>
      </p:sp>
      <p:sp>
        <p:nvSpPr>
          <p:cNvPr id="20" name="Rectangle 19"/>
          <p:cNvSpPr/>
          <p:nvPr/>
        </p:nvSpPr>
        <p:spPr>
          <a:xfrm>
            <a:off x="457200" y="5422392"/>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349240"/>
            <a:ext cx="6583680" cy="365760"/>
          </a:xfrm>
          <a:prstGeom prst="rect">
            <a:avLst/>
          </a:prstGeom>
          <a:noFill/>
        </p:spPr>
        <p:txBody>
          <a:bodyPr wrap="square" anchor="t"/>
          <a:lstStyle/>
          <a:p>
            <a:pPr algn="l"/>
            <a:r>
              <a:rPr sz="1300" b="0">
                <a:solidFill>
                  <a:srgbClr val="F5F0E8"/>
                </a:solidFill>
                <a:latin typeface="Arial"/>
              </a:rPr>
              <a:t>Cherry Voltage is the studio’s modern recommendation.</a:t>
            </a:r>
          </a:p>
        </p:txBody>
      </p:sp>
      <p:sp>
        <p:nvSpPr>
          <p:cNvPr id="22" name="Rectangle 21"/>
          <p:cNvSpPr/>
          <p:nvPr/>
        </p:nvSpPr>
        <p:spPr>
          <a:xfrm>
            <a:off x="457200" y="5861304"/>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788152"/>
            <a:ext cx="6583680" cy="365760"/>
          </a:xfrm>
          <a:prstGeom prst="rect">
            <a:avLst/>
          </a:prstGeom>
          <a:noFill/>
        </p:spPr>
        <p:txBody>
          <a:bodyPr wrap="square" anchor="t"/>
          <a:lstStyle/>
          <a:p>
            <a:pPr algn="l"/>
            <a:r>
              <a:rPr sz="1300" b="0">
                <a:solidFill>
                  <a:srgbClr val="F5F0E8"/>
                </a:solidFill>
                <a:latin typeface="Arial"/>
              </a:rPr>
              <a:t>Remember the Feeling and The Opening are the history pair. Both need photo rights.</a:t>
            </a:r>
          </a:p>
        </p:txBody>
      </p:sp>
      <p:sp>
        <p:nvSpPr>
          <p:cNvPr id="24" name="Rectangle 23"/>
          <p:cNvSpPr/>
          <p:nvPr/>
        </p:nvSpPr>
        <p:spPr>
          <a:xfrm>
            <a:off x="457200" y="6300216"/>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227064"/>
            <a:ext cx="6583680" cy="365760"/>
          </a:xfrm>
          <a:prstGeom prst="rect">
            <a:avLst/>
          </a:prstGeom>
          <a:noFill/>
        </p:spPr>
        <p:txBody>
          <a:bodyPr wrap="square" anchor="t"/>
          <a:lstStyle/>
          <a:p>
            <a:pPr algn="l"/>
            <a:r>
              <a:rPr sz="1300" b="0">
                <a:solidFill>
                  <a:srgbClr val="F5F0E8"/>
                </a:solidFill>
                <a:latin typeface="Arial"/>
              </a:rPr>
              <a:t>The Ramp is the architecture story — unique to this building.</a:t>
            </a:r>
          </a:p>
        </p:txBody>
      </p:sp>
      <p:sp>
        <p:nvSpPr>
          <p:cNvPr id="26" name="Rectangle 25"/>
          <p:cNvSpPr/>
          <p:nvPr/>
        </p:nvSpPr>
        <p:spPr>
          <a:xfrm>
            <a:off x="457200" y="6739128"/>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6665976"/>
            <a:ext cx="6583680" cy="365760"/>
          </a:xfrm>
          <a:prstGeom prst="rect">
            <a:avLst/>
          </a:prstGeom>
          <a:noFill/>
        </p:spPr>
        <p:txBody>
          <a:bodyPr wrap="square" anchor="t"/>
          <a:lstStyle/>
          <a:p>
            <a:pPr algn="l"/>
            <a:r>
              <a:rPr sz="1300" b="0">
                <a:solidFill>
                  <a:srgbClr val="F5F0E8"/>
                </a:solidFill>
                <a:latin typeface="Arial"/>
              </a:rPr>
              <a:t>Subterranean Red is the operational fallback: lockup on cherry.</a:t>
            </a:r>
          </a:p>
        </p:txBody>
      </p:sp>
      <p:sp>
        <p:nvSpPr>
          <p:cNvPr id="28" name="Rectangle 27"/>
          <p:cNvSpPr/>
          <p:nvPr/>
        </p:nvSpPr>
        <p:spPr>
          <a:xfrm>
            <a:off x="457200" y="7178040"/>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7104888"/>
            <a:ext cx="6583680" cy="365760"/>
          </a:xfrm>
          <a:prstGeom prst="rect">
            <a:avLst/>
          </a:prstGeom>
          <a:noFill/>
        </p:spPr>
        <p:txBody>
          <a:bodyPr wrap="square" anchor="t"/>
          <a:lstStyle/>
          <a:p>
            <a:pPr algn="l"/>
            <a:r>
              <a:rPr sz="1300" b="0">
                <a:solidFill>
                  <a:srgbClr val="F5F0E8"/>
                </a:solidFill>
                <a:latin typeface="Arial"/>
              </a:rPr>
              <a:t>Four Eras and 60 Howls keep their briefs. Their current faces are not ready to approve.</a:t>
            </a:r>
          </a:p>
        </p:txBody>
      </p:sp>
      <p:sp>
        <p:nvSpPr>
          <p:cNvPr id="30" name="TextBox 29"/>
          <p:cNvSpPr txBox="1"/>
          <p:nvPr/>
        </p:nvSpPr>
        <p:spPr>
          <a:xfrm>
            <a:off x="457200" y="7772400"/>
            <a:ext cx="6858000" cy="1645920"/>
          </a:xfrm>
          <a:prstGeom prst="rect">
            <a:avLst/>
          </a:prstGeom>
          <a:noFill/>
        </p:spPr>
        <p:txBody>
          <a:bodyPr wrap="square" anchor="t"/>
          <a:lstStyle/>
          <a:p>
            <a:pPr algn="l"/>
            <a:r>
              <a:rPr sz="1100" b="0">
                <a:solidFill>
                  <a:srgbClr val="A7A8AA"/>
                </a:solidFill>
                <a:latin typeface="Arial"/>
              </a:rPr>
              <a:t>Interactive source of these faces:
https://stand-revel-66898789.figma.site</a:t>
            </a:r>
          </a:p>
        </p:txBody>
      </p:sp>
      <p:sp>
        <p:nvSpPr>
          <p:cNvPr id="31" name="Rectangle 30"/>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34" name="TextBox 33"/>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6858000" cy="228600"/>
          </a:xfrm>
          <a:prstGeom prst="rect">
            <a:avLst/>
          </a:prstGeom>
          <a:noFill/>
        </p:spPr>
        <p:txBody>
          <a:bodyPr wrap="square" anchor="t"/>
          <a:lstStyle/>
          <a:p>
            <a:pPr algn="l"/>
            <a:r>
              <a:rPr sz="1000" b="1">
                <a:solidFill>
                  <a:srgbClr val="BA0C2F"/>
                </a:solidFill>
                <a:latin typeface="Arial"/>
              </a:rPr>
              <a:t>02  —  THE LINEUP</a:t>
            </a:r>
          </a:p>
        </p:txBody>
      </p:sp>
      <p:sp>
        <p:nvSpPr>
          <p:cNvPr id="5" name="TextBox 4"/>
          <p:cNvSpPr txBox="1"/>
          <p:nvPr/>
        </p:nvSpPr>
        <p:spPr>
          <a:xfrm>
            <a:off x="457200" y="566928"/>
            <a:ext cx="6858000" cy="502920"/>
          </a:xfrm>
          <a:prstGeom prst="rect">
            <a:avLst/>
          </a:prstGeom>
          <a:noFill/>
        </p:spPr>
        <p:txBody>
          <a:bodyPr wrap="square" anchor="t"/>
          <a:lstStyle/>
          <a:p>
            <a:pPr algn="l"/>
            <a:r>
              <a:rPr sz="2400" b="1">
                <a:solidFill>
                  <a:srgbClr val="FFFFFF"/>
                </a:solidFill>
                <a:latin typeface="Arial"/>
              </a:rPr>
              <a:t>Seven faces. One cup.</a:t>
            </a:r>
          </a:p>
        </p:txBody>
      </p:sp>
      <p:sp>
        <p:nvSpPr>
          <p:cNvPr id="6" name="TextBox 5"/>
          <p:cNvSpPr txBox="1"/>
          <p:nvPr/>
        </p:nvSpPr>
        <p:spPr>
          <a:xfrm>
            <a:off x="457200" y="1097280"/>
            <a:ext cx="6858000" cy="457200"/>
          </a:xfrm>
          <a:prstGeom prst="rect">
            <a:avLst/>
          </a:prstGeom>
          <a:noFill/>
        </p:spPr>
        <p:txBody>
          <a:bodyPr wrap="square" anchor="t"/>
          <a:lstStyle/>
          <a:p>
            <a:pPr algn="l"/>
            <a:r>
              <a:rPr sz="1200" b="0">
                <a:solidFill>
                  <a:srgbClr val="C8C2B6"/>
                </a:solidFill>
                <a:latin typeface="Arial"/>
              </a:rPr>
              <a:t>Printed from the live prototype. Hold Four Eras and 60 Howls at concept — do not treat those two drawings as finished art.</a:t>
            </a:r>
          </a:p>
        </p:txBody>
      </p:sp>
      <p:pic>
        <p:nvPicPr>
          <p:cNvPr id="7" name="Picture 6" descr="00-lineup.png"/>
          <p:cNvPicPr>
            <a:picLocks noChangeAspect="1"/>
          </p:cNvPicPr>
          <p:nvPr/>
        </p:nvPicPr>
        <p:blipFill>
          <a:blip r:embed="rId2"/>
          <a:stretch>
            <a:fillRect/>
          </a:stretch>
        </p:blipFill>
        <p:spPr>
          <a:xfrm>
            <a:off x="320040" y="1737360"/>
            <a:ext cx="7132320" cy="1124712"/>
          </a:xfrm>
          <a:prstGeom prst="rect">
            <a:avLst/>
          </a:prstGeom>
        </p:spPr>
      </p:pic>
      <p:sp>
        <p:nvSpPr>
          <p:cNvPr id="8" name="TextBox 7"/>
          <p:cNvSpPr txBox="1"/>
          <p:nvPr/>
        </p:nvSpPr>
        <p:spPr>
          <a:xfrm>
            <a:off x="457200" y="3063240"/>
            <a:ext cx="548640" cy="256032"/>
          </a:xfrm>
          <a:prstGeom prst="rect">
            <a:avLst/>
          </a:prstGeom>
          <a:noFill/>
        </p:spPr>
        <p:txBody>
          <a:bodyPr wrap="square" anchor="t"/>
          <a:lstStyle/>
          <a:p>
            <a:pPr algn="l"/>
            <a:r>
              <a:rPr sz="900" b="1">
                <a:solidFill>
                  <a:srgbClr val="8A8A8A"/>
                </a:solidFill>
                <a:latin typeface="Arial"/>
              </a:rPr>
              <a:t>#</a:t>
            </a:r>
          </a:p>
        </p:txBody>
      </p:sp>
      <p:sp>
        <p:nvSpPr>
          <p:cNvPr id="9" name="TextBox 8"/>
          <p:cNvSpPr txBox="1"/>
          <p:nvPr/>
        </p:nvSpPr>
        <p:spPr>
          <a:xfrm>
            <a:off x="1097280" y="3063240"/>
            <a:ext cx="2926080" cy="256032"/>
          </a:xfrm>
          <a:prstGeom prst="rect">
            <a:avLst/>
          </a:prstGeom>
          <a:noFill/>
        </p:spPr>
        <p:txBody>
          <a:bodyPr wrap="square" anchor="t"/>
          <a:lstStyle/>
          <a:p>
            <a:pPr algn="l"/>
            <a:r>
              <a:rPr sz="900" b="1">
                <a:solidFill>
                  <a:srgbClr val="8A8A8A"/>
                </a:solidFill>
                <a:latin typeface="Arial"/>
              </a:rPr>
              <a:t>CONCEPT</a:t>
            </a:r>
          </a:p>
        </p:txBody>
      </p:sp>
      <p:sp>
        <p:nvSpPr>
          <p:cNvPr id="10" name="TextBox 9"/>
          <p:cNvSpPr txBox="1"/>
          <p:nvPr/>
        </p:nvSpPr>
        <p:spPr>
          <a:xfrm>
            <a:off x="4114800" y="3063240"/>
            <a:ext cx="1828800" cy="256032"/>
          </a:xfrm>
          <a:prstGeom prst="rect">
            <a:avLst/>
          </a:prstGeom>
          <a:noFill/>
        </p:spPr>
        <p:txBody>
          <a:bodyPr wrap="square" anchor="t"/>
          <a:lstStyle/>
          <a:p>
            <a:pPr algn="l"/>
            <a:r>
              <a:rPr sz="900" b="1">
                <a:solidFill>
                  <a:srgbClr val="8A8A8A"/>
                </a:solidFill>
                <a:latin typeface="Arial"/>
              </a:rPr>
              <a:t>JOB</a:t>
            </a:r>
          </a:p>
        </p:txBody>
      </p:sp>
      <p:sp>
        <p:nvSpPr>
          <p:cNvPr id="11" name="TextBox 10"/>
          <p:cNvSpPr txBox="1"/>
          <p:nvPr/>
        </p:nvSpPr>
        <p:spPr>
          <a:xfrm>
            <a:off x="5943600" y="3063240"/>
            <a:ext cx="1371600" cy="256032"/>
          </a:xfrm>
          <a:prstGeom prst="rect">
            <a:avLst/>
          </a:prstGeom>
          <a:noFill/>
        </p:spPr>
        <p:txBody>
          <a:bodyPr wrap="square" anchor="t"/>
          <a:lstStyle/>
          <a:p>
            <a:pPr algn="l"/>
            <a:r>
              <a:rPr sz="900" b="1">
                <a:solidFill>
                  <a:srgbClr val="8A8A8A"/>
                </a:solidFill>
                <a:latin typeface="Arial"/>
              </a:rPr>
              <a:t>STATUS</a:t>
            </a:r>
          </a:p>
        </p:txBody>
      </p:sp>
      <p:sp>
        <p:nvSpPr>
          <p:cNvPr id="12" name="Rectangle 11"/>
          <p:cNvSpPr/>
          <p:nvPr/>
        </p:nvSpPr>
        <p:spPr>
          <a:xfrm>
            <a:off x="457200" y="3355848"/>
            <a:ext cx="6858000" cy="13716"/>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65576"/>
            <a:ext cx="548640" cy="347472"/>
          </a:xfrm>
          <a:prstGeom prst="rect">
            <a:avLst/>
          </a:prstGeom>
          <a:noFill/>
        </p:spPr>
        <p:txBody>
          <a:bodyPr wrap="square" anchor="t"/>
          <a:lstStyle/>
          <a:p>
            <a:pPr algn="l"/>
            <a:r>
              <a:rPr sz="1400" b="1">
                <a:solidFill>
                  <a:srgbClr val="BA0C2F"/>
                </a:solidFill>
                <a:latin typeface="Arial"/>
              </a:rPr>
              <a:t>01</a:t>
            </a:r>
          </a:p>
        </p:txBody>
      </p:sp>
      <p:sp>
        <p:nvSpPr>
          <p:cNvPr id="14" name="TextBox 13"/>
          <p:cNvSpPr txBox="1"/>
          <p:nvPr/>
        </p:nvSpPr>
        <p:spPr>
          <a:xfrm>
            <a:off x="1097280" y="3465576"/>
            <a:ext cx="2926080" cy="347472"/>
          </a:xfrm>
          <a:prstGeom prst="rect">
            <a:avLst/>
          </a:prstGeom>
          <a:noFill/>
        </p:spPr>
        <p:txBody>
          <a:bodyPr wrap="square" anchor="t"/>
          <a:lstStyle/>
          <a:p>
            <a:pPr algn="l"/>
            <a:r>
              <a:rPr sz="1400" b="1">
                <a:solidFill>
                  <a:srgbClr val="FFFFFF"/>
                </a:solidFill>
                <a:latin typeface="Arial"/>
              </a:rPr>
              <a:t>Subterranean Red</a:t>
            </a:r>
          </a:p>
        </p:txBody>
      </p:sp>
      <p:sp>
        <p:nvSpPr>
          <p:cNvPr id="15" name="TextBox 14"/>
          <p:cNvSpPr txBox="1"/>
          <p:nvPr/>
        </p:nvSpPr>
        <p:spPr>
          <a:xfrm>
            <a:off x="4114800" y="3465576"/>
            <a:ext cx="1828800" cy="347472"/>
          </a:xfrm>
          <a:prstGeom prst="rect">
            <a:avLst/>
          </a:prstGeom>
          <a:noFill/>
        </p:spPr>
        <p:txBody>
          <a:bodyPr wrap="square" anchor="t"/>
          <a:lstStyle/>
          <a:p>
            <a:pPr algn="l"/>
            <a:r>
              <a:rPr sz="1200" b="0">
                <a:solidFill>
                  <a:srgbClr val="C8C2B6"/>
                </a:solidFill>
                <a:latin typeface="Arial"/>
              </a:rPr>
              <a:t>Simple SKU</a:t>
            </a:r>
          </a:p>
        </p:txBody>
      </p:sp>
      <p:sp>
        <p:nvSpPr>
          <p:cNvPr id="16" name="TextBox 15"/>
          <p:cNvSpPr txBox="1"/>
          <p:nvPr/>
        </p:nvSpPr>
        <p:spPr>
          <a:xfrm>
            <a:off x="5943600" y="3465576"/>
            <a:ext cx="1371600" cy="347472"/>
          </a:xfrm>
          <a:prstGeom prst="rect">
            <a:avLst/>
          </a:prstGeom>
          <a:noFill/>
        </p:spPr>
        <p:txBody>
          <a:bodyPr wrap="square" anchor="t"/>
          <a:lstStyle/>
          <a:p>
            <a:pPr algn="l"/>
            <a:r>
              <a:rPr sz="1100" b="1">
                <a:solidFill>
                  <a:srgbClr val="9FC9A8"/>
                </a:solidFill>
                <a:latin typeface="Arial"/>
              </a:rPr>
              <a:t>READY</a:t>
            </a:r>
          </a:p>
        </p:txBody>
      </p:sp>
      <p:sp>
        <p:nvSpPr>
          <p:cNvPr id="17" name="TextBox 16"/>
          <p:cNvSpPr txBox="1"/>
          <p:nvPr/>
        </p:nvSpPr>
        <p:spPr>
          <a:xfrm>
            <a:off x="457200" y="3941064"/>
            <a:ext cx="548640" cy="347472"/>
          </a:xfrm>
          <a:prstGeom prst="rect">
            <a:avLst/>
          </a:prstGeom>
          <a:noFill/>
        </p:spPr>
        <p:txBody>
          <a:bodyPr wrap="square" anchor="t"/>
          <a:lstStyle/>
          <a:p>
            <a:pPr algn="l"/>
            <a:r>
              <a:rPr sz="1400" b="1">
                <a:solidFill>
                  <a:srgbClr val="BA0C2F"/>
                </a:solidFill>
                <a:latin typeface="Arial"/>
              </a:rPr>
              <a:t>02</a:t>
            </a:r>
          </a:p>
        </p:txBody>
      </p:sp>
      <p:sp>
        <p:nvSpPr>
          <p:cNvPr id="18" name="TextBox 17"/>
          <p:cNvSpPr txBox="1"/>
          <p:nvPr/>
        </p:nvSpPr>
        <p:spPr>
          <a:xfrm>
            <a:off x="1097280" y="3941064"/>
            <a:ext cx="2926080" cy="347472"/>
          </a:xfrm>
          <a:prstGeom prst="rect">
            <a:avLst/>
          </a:prstGeom>
          <a:noFill/>
        </p:spPr>
        <p:txBody>
          <a:bodyPr wrap="square" anchor="t"/>
          <a:lstStyle/>
          <a:p>
            <a:pPr algn="l"/>
            <a:r>
              <a:rPr sz="1400" b="1">
                <a:solidFill>
                  <a:srgbClr val="FFFFFF"/>
                </a:solidFill>
                <a:latin typeface="Arial"/>
              </a:rPr>
              <a:t>Remember the Feeling</a:t>
            </a:r>
          </a:p>
        </p:txBody>
      </p:sp>
      <p:sp>
        <p:nvSpPr>
          <p:cNvPr id="19" name="TextBox 18"/>
          <p:cNvSpPr txBox="1"/>
          <p:nvPr/>
        </p:nvSpPr>
        <p:spPr>
          <a:xfrm>
            <a:off x="4114800" y="3941064"/>
            <a:ext cx="1828800" cy="347472"/>
          </a:xfrm>
          <a:prstGeom prst="rect">
            <a:avLst/>
          </a:prstGeom>
          <a:noFill/>
        </p:spPr>
        <p:txBody>
          <a:bodyPr wrap="square" anchor="t"/>
          <a:lstStyle/>
          <a:p>
            <a:pPr algn="l"/>
            <a:r>
              <a:rPr sz="1200" b="0">
                <a:solidFill>
                  <a:srgbClr val="C8C2B6"/>
                </a:solidFill>
                <a:latin typeface="Arial"/>
              </a:rPr>
              <a:t>Legacy</a:t>
            </a:r>
          </a:p>
        </p:txBody>
      </p:sp>
      <p:sp>
        <p:nvSpPr>
          <p:cNvPr id="20" name="TextBox 19"/>
          <p:cNvSpPr txBox="1"/>
          <p:nvPr/>
        </p:nvSpPr>
        <p:spPr>
          <a:xfrm>
            <a:off x="5943600" y="3941064"/>
            <a:ext cx="1371600" cy="347472"/>
          </a:xfrm>
          <a:prstGeom prst="rect">
            <a:avLst/>
          </a:prstGeom>
          <a:noFill/>
        </p:spPr>
        <p:txBody>
          <a:bodyPr wrap="square" anchor="t"/>
          <a:lstStyle/>
          <a:p>
            <a:pPr algn="l"/>
            <a:r>
              <a:rPr sz="1100" b="1">
                <a:solidFill>
                  <a:srgbClr val="9FC9A8"/>
                </a:solidFill>
                <a:latin typeface="Arial"/>
              </a:rPr>
              <a:t>READY</a:t>
            </a:r>
          </a:p>
        </p:txBody>
      </p:sp>
      <p:sp>
        <p:nvSpPr>
          <p:cNvPr id="21" name="TextBox 20"/>
          <p:cNvSpPr txBox="1"/>
          <p:nvPr/>
        </p:nvSpPr>
        <p:spPr>
          <a:xfrm>
            <a:off x="457200" y="4416552"/>
            <a:ext cx="548640" cy="347472"/>
          </a:xfrm>
          <a:prstGeom prst="rect">
            <a:avLst/>
          </a:prstGeom>
          <a:noFill/>
        </p:spPr>
        <p:txBody>
          <a:bodyPr wrap="square" anchor="t"/>
          <a:lstStyle/>
          <a:p>
            <a:pPr algn="l"/>
            <a:r>
              <a:rPr sz="1400" b="1">
                <a:solidFill>
                  <a:srgbClr val="BA0C2F"/>
                </a:solidFill>
                <a:latin typeface="Arial"/>
              </a:rPr>
              <a:t>03</a:t>
            </a:r>
          </a:p>
        </p:txBody>
      </p:sp>
      <p:sp>
        <p:nvSpPr>
          <p:cNvPr id="22" name="TextBox 21"/>
          <p:cNvSpPr txBox="1"/>
          <p:nvPr/>
        </p:nvSpPr>
        <p:spPr>
          <a:xfrm>
            <a:off x="1097280" y="4416552"/>
            <a:ext cx="2926080" cy="347472"/>
          </a:xfrm>
          <a:prstGeom prst="rect">
            <a:avLst/>
          </a:prstGeom>
          <a:noFill/>
        </p:spPr>
        <p:txBody>
          <a:bodyPr wrap="square" anchor="t"/>
          <a:lstStyle/>
          <a:p>
            <a:pPr algn="l"/>
            <a:r>
              <a:rPr sz="1400" b="1">
                <a:solidFill>
                  <a:srgbClr val="FFFFFF"/>
                </a:solidFill>
                <a:latin typeface="Arial"/>
              </a:rPr>
              <a:t>Cherry Voltage</a:t>
            </a:r>
          </a:p>
        </p:txBody>
      </p:sp>
      <p:sp>
        <p:nvSpPr>
          <p:cNvPr id="23" name="TextBox 22"/>
          <p:cNvSpPr txBox="1"/>
          <p:nvPr/>
        </p:nvSpPr>
        <p:spPr>
          <a:xfrm>
            <a:off x="4114800" y="4416552"/>
            <a:ext cx="1828800" cy="347472"/>
          </a:xfrm>
          <a:prstGeom prst="rect">
            <a:avLst/>
          </a:prstGeom>
          <a:noFill/>
        </p:spPr>
        <p:txBody>
          <a:bodyPr wrap="square" anchor="t"/>
          <a:lstStyle/>
          <a:p>
            <a:pPr algn="l"/>
            <a:r>
              <a:rPr sz="1200" b="0">
                <a:solidFill>
                  <a:srgbClr val="C8C2B6"/>
                </a:solidFill>
                <a:latin typeface="Arial"/>
              </a:rPr>
              <a:t>Modern</a:t>
            </a:r>
          </a:p>
        </p:txBody>
      </p:sp>
      <p:sp>
        <p:nvSpPr>
          <p:cNvPr id="24" name="TextBox 23"/>
          <p:cNvSpPr txBox="1"/>
          <p:nvPr/>
        </p:nvSpPr>
        <p:spPr>
          <a:xfrm>
            <a:off x="5943600" y="4416552"/>
            <a:ext cx="1371600" cy="347472"/>
          </a:xfrm>
          <a:prstGeom prst="rect">
            <a:avLst/>
          </a:prstGeom>
          <a:noFill/>
        </p:spPr>
        <p:txBody>
          <a:bodyPr wrap="square" anchor="t"/>
          <a:lstStyle/>
          <a:p>
            <a:pPr algn="l"/>
            <a:r>
              <a:rPr sz="1100" b="1">
                <a:solidFill>
                  <a:srgbClr val="BA0C2F"/>
                </a:solidFill>
                <a:latin typeface="Arial"/>
              </a:rPr>
              <a:t>RECOMMEND</a:t>
            </a:r>
          </a:p>
        </p:txBody>
      </p:sp>
      <p:sp>
        <p:nvSpPr>
          <p:cNvPr id="25" name="TextBox 24"/>
          <p:cNvSpPr txBox="1"/>
          <p:nvPr/>
        </p:nvSpPr>
        <p:spPr>
          <a:xfrm>
            <a:off x="457200" y="4892040"/>
            <a:ext cx="548640" cy="347472"/>
          </a:xfrm>
          <a:prstGeom prst="rect">
            <a:avLst/>
          </a:prstGeom>
          <a:noFill/>
        </p:spPr>
        <p:txBody>
          <a:bodyPr wrap="square" anchor="t"/>
          <a:lstStyle/>
          <a:p>
            <a:pPr algn="l"/>
            <a:r>
              <a:rPr sz="1400" b="1">
                <a:solidFill>
                  <a:srgbClr val="BA0C2F"/>
                </a:solidFill>
                <a:latin typeface="Arial"/>
              </a:rPr>
              <a:t>04</a:t>
            </a:r>
          </a:p>
        </p:txBody>
      </p:sp>
      <p:sp>
        <p:nvSpPr>
          <p:cNvPr id="26" name="TextBox 25"/>
          <p:cNvSpPr txBox="1"/>
          <p:nvPr/>
        </p:nvSpPr>
        <p:spPr>
          <a:xfrm>
            <a:off x="1097280" y="4892040"/>
            <a:ext cx="2926080" cy="347472"/>
          </a:xfrm>
          <a:prstGeom prst="rect">
            <a:avLst/>
          </a:prstGeom>
          <a:noFill/>
        </p:spPr>
        <p:txBody>
          <a:bodyPr wrap="square" anchor="t"/>
          <a:lstStyle/>
          <a:p>
            <a:pPr algn="l"/>
            <a:r>
              <a:rPr sz="1400" b="1">
                <a:solidFill>
                  <a:srgbClr val="FFFFFF"/>
                </a:solidFill>
                <a:latin typeface="Arial"/>
              </a:rPr>
              <a:t>Four Eras</a:t>
            </a:r>
          </a:p>
        </p:txBody>
      </p:sp>
      <p:sp>
        <p:nvSpPr>
          <p:cNvPr id="27" name="TextBox 26"/>
          <p:cNvSpPr txBox="1"/>
          <p:nvPr/>
        </p:nvSpPr>
        <p:spPr>
          <a:xfrm>
            <a:off x="4114800" y="4892040"/>
            <a:ext cx="1828800" cy="347472"/>
          </a:xfrm>
          <a:prstGeom prst="rect">
            <a:avLst/>
          </a:prstGeom>
          <a:noFill/>
        </p:spPr>
        <p:txBody>
          <a:bodyPr wrap="square" anchor="t"/>
          <a:lstStyle/>
          <a:p>
            <a:pPr algn="l"/>
            <a:r>
              <a:rPr sz="1200" b="0">
                <a:solidFill>
                  <a:srgbClr val="C8C2B6"/>
                </a:solidFill>
                <a:latin typeface="Arial"/>
              </a:rPr>
              <a:t>Years in review</a:t>
            </a:r>
          </a:p>
        </p:txBody>
      </p:sp>
      <p:sp>
        <p:nvSpPr>
          <p:cNvPr id="28" name="TextBox 27"/>
          <p:cNvSpPr txBox="1"/>
          <p:nvPr/>
        </p:nvSpPr>
        <p:spPr>
          <a:xfrm>
            <a:off x="5943600" y="4892040"/>
            <a:ext cx="1371600" cy="347472"/>
          </a:xfrm>
          <a:prstGeom prst="rect">
            <a:avLst/>
          </a:prstGeom>
          <a:noFill/>
        </p:spPr>
        <p:txBody>
          <a:bodyPr wrap="square" anchor="t"/>
          <a:lstStyle/>
          <a:p>
            <a:pPr algn="l"/>
            <a:r>
              <a:rPr sz="1100" b="1">
                <a:solidFill>
                  <a:srgbClr val="E6C07B"/>
                </a:solidFill>
                <a:latin typeface="Arial"/>
              </a:rPr>
              <a:t>HOLD</a:t>
            </a:r>
          </a:p>
        </p:txBody>
      </p:sp>
      <p:sp>
        <p:nvSpPr>
          <p:cNvPr id="29" name="TextBox 28"/>
          <p:cNvSpPr txBox="1"/>
          <p:nvPr/>
        </p:nvSpPr>
        <p:spPr>
          <a:xfrm>
            <a:off x="457200" y="5367528"/>
            <a:ext cx="548640" cy="347472"/>
          </a:xfrm>
          <a:prstGeom prst="rect">
            <a:avLst/>
          </a:prstGeom>
          <a:noFill/>
        </p:spPr>
        <p:txBody>
          <a:bodyPr wrap="square" anchor="t"/>
          <a:lstStyle/>
          <a:p>
            <a:pPr algn="l"/>
            <a:r>
              <a:rPr sz="1400" b="1">
                <a:solidFill>
                  <a:srgbClr val="BA0C2F"/>
                </a:solidFill>
                <a:latin typeface="Arial"/>
              </a:rPr>
              <a:t>05</a:t>
            </a:r>
          </a:p>
        </p:txBody>
      </p:sp>
      <p:sp>
        <p:nvSpPr>
          <p:cNvPr id="30" name="TextBox 29"/>
          <p:cNvSpPr txBox="1"/>
          <p:nvPr/>
        </p:nvSpPr>
        <p:spPr>
          <a:xfrm>
            <a:off x="1097280" y="5367528"/>
            <a:ext cx="2926080" cy="347472"/>
          </a:xfrm>
          <a:prstGeom prst="rect">
            <a:avLst/>
          </a:prstGeom>
          <a:noFill/>
        </p:spPr>
        <p:txBody>
          <a:bodyPr wrap="square" anchor="t"/>
          <a:lstStyle/>
          <a:p>
            <a:pPr algn="l"/>
            <a:r>
              <a:rPr sz="1400" b="1">
                <a:solidFill>
                  <a:srgbClr val="FFFFFF"/>
                </a:solidFill>
                <a:latin typeface="Arial"/>
              </a:rPr>
              <a:t>The Ramp</a:t>
            </a:r>
          </a:p>
        </p:txBody>
      </p:sp>
      <p:sp>
        <p:nvSpPr>
          <p:cNvPr id="31" name="TextBox 30"/>
          <p:cNvSpPr txBox="1"/>
          <p:nvPr/>
        </p:nvSpPr>
        <p:spPr>
          <a:xfrm>
            <a:off x="4114800" y="5367528"/>
            <a:ext cx="1828800" cy="347472"/>
          </a:xfrm>
          <a:prstGeom prst="rect">
            <a:avLst/>
          </a:prstGeom>
          <a:noFill/>
        </p:spPr>
        <p:txBody>
          <a:bodyPr wrap="square" anchor="t"/>
          <a:lstStyle/>
          <a:p>
            <a:pPr algn="l"/>
            <a:r>
              <a:rPr sz="1200" b="0">
                <a:solidFill>
                  <a:srgbClr val="C8C2B6"/>
                </a:solidFill>
                <a:latin typeface="Arial"/>
              </a:rPr>
              <a:t>Architecture</a:t>
            </a:r>
          </a:p>
        </p:txBody>
      </p:sp>
      <p:sp>
        <p:nvSpPr>
          <p:cNvPr id="32" name="TextBox 31"/>
          <p:cNvSpPr txBox="1"/>
          <p:nvPr/>
        </p:nvSpPr>
        <p:spPr>
          <a:xfrm>
            <a:off x="5943600" y="5367528"/>
            <a:ext cx="1371600" cy="347472"/>
          </a:xfrm>
          <a:prstGeom prst="rect">
            <a:avLst/>
          </a:prstGeom>
          <a:noFill/>
        </p:spPr>
        <p:txBody>
          <a:bodyPr wrap="square" anchor="t"/>
          <a:lstStyle/>
          <a:p>
            <a:pPr algn="l"/>
            <a:r>
              <a:rPr sz="1100" b="1">
                <a:solidFill>
                  <a:srgbClr val="9FC9A8"/>
                </a:solidFill>
                <a:latin typeface="Arial"/>
              </a:rPr>
              <a:t>READY</a:t>
            </a:r>
          </a:p>
        </p:txBody>
      </p:sp>
      <p:sp>
        <p:nvSpPr>
          <p:cNvPr id="33" name="TextBox 32"/>
          <p:cNvSpPr txBox="1"/>
          <p:nvPr/>
        </p:nvSpPr>
        <p:spPr>
          <a:xfrm>
            <a:off x="457200" y="5843016"/>
            <a:ext cx="548640" cy="347472"/>
          </a:xfrm>
          <a:prstGeom prst="rect">
            <a:avLst/>
          </a:prstGeom>
          <a:noFill/>
        </p:spPr>
        <p:txBody>
          <a:bodyPr wrap="square" anchor="t"/>
          <a:lstStyle/>
          <a:p>
            <a:pPr algn="l"/>
            <a:r>
              <a:rPr sz="1400" b="1">
                <a:solidFill>
                  <a:srgbClr val="BA0C2F"/>
                </a:solidFill>
                <a:latin typeface="Arial"/>
              </a:rPr>
              <a:t>06</a:t>
            </a:r>
          </a:p>
        </p:txBody>
      </p:sp>
      <p:sp>
        <p:nvSpPr>
          <p:cNvPr id="34" name="TextBox 33"/>
          <p:cNvSpPr txBox="1"/>
          <p:nvPr/>
        </p:nvSpPr>
        <p:spPr>
          <a:xfrm>
            <a:off x="1097280" y="5843016"/>
            <a:ext cx="2926080" cy="347472"/>
          </a:xfrm>
          <a:prstGeom prst="rect">
            <a:avLst/>
          </a:prstGeom>
          <a:noFill/>
        </p:spPr>
        <p:txBody>
          <a:bodyPr wrap="square" anchor="t"/>
          <a:lstStyle/>
          <a:p>
            <a:pPr algn="l"/>
            <a:r>
              <a:rPr sz="1400" b="1">
                <a:solidFill>
                  <a:srgbClr val="FFFFFF"/>
                </a:solidFill>
                <a:latin typeface="Arial"/>
              </a:rPr>
              <a:t>60 Howls</a:t>
            </a:r>
          </a:p>
        </p:txBody>
      </p:sp>
      <p:sp>
        <p:nvSpPr>
          <p:cNvPr id="35" name="TextBox 34"/>
          <p:cNvSpPr txBox="1"/>
          <p:nvPr/>
        </p:nvSpPr>
        <p:spPr>
          <a:xfrm>
            <a:off x="4114800" y="5843016"/>
            <a:ext cx="1828800" cy="347472"/>
          </a:xfrm>
          <a:prstGeom prst="rect">
            <a:avLst/>
          </a:prstGeom>
          <a:noFill/>
        </p:spPr>
        <p:txBody>
          <a:bodyPr wrap="square" anchor="t"/>
          <a:lstStyle/>
          <a:p>
            <a:pPr algn="l"/>
            <a:r>
              <a:rPr sz="1200" b="0">
                <a:solidFill>
                  <a:srgbClr val="C8C2B6"/>
                </a:solidFill>
                <a:latin typeface="Arial"/>
              </a:rPr>
              <a:t>Collectible</a:t>
            </a:r>
          </a:p>
        </p:txBody>
      </p:sp>
      <p:sp>
        <p:nvSpPr>
          <p:cNvPr id="36" name="TextBox 35"/>
          <p:cNvSpPr txBox="1"/>
          <p:nvPr/>
        </p:nvSpPr>
        <p:spPr>
          <a:xfrm>
            <a:off x="5943600" y="5843016"/>
            <a:ext cx="1371600" cy="347472"/>
          </a:xfrm>
          <a:prstGeom prst="rect">
            <a:avLst/>
          </a:prstGeom>
          <a:noFill/>
        </p:spPr>
        <p:txBody>
          <a:bodyPr wrap="square" anchor="t"/>
          <a:lstStyle/>
          <a:p>
            <a:pPr algn="l"/>
            <a:r>
              <a:rPr sz="1100" b="1">
                <a:solidFill>
                  <a:srgbClr val="E6C07B"/>
                </a:solidFill>
                <a:latin typeface="Arial"/>
              </a:rPr>
              <a:t>HOLD</a:t>
            </a:r>
          </a:p>
        </p:txBody>
      </p:sp>
      <p:sp>
        <p:nvSpPr>
          <p:cNvPr id="37" name="TextBox 36"/>
          <p:cNvSpPr txBox="1"/>
          <p:nvPr/>
        </p:nvSpPr>
        <p:spPr>
          <a:xfrm>
            <a:off x="457200" y="6318504"/>
            <a:ext cx="548640" cy="347472"/>
          </a:xfrm>
          <a:prstGeom prst="rect">
            <a:avLst/>
          </a:prstGeom>
          <a:noFill/>
        </p:spPr>
        <p:txBody>
          <a:bodyPr wrap="square" anchor="t"/>
          <a:lstStyle/>
          <a:p>
            <a:pPr algn="l"/>
            <a:r>
              <a:rPr sz="1400" b="1">
                <a:solidFill>
                  <a:srgbClr val="BA0C2F"/>
                </a:solidFill>
                <a:latin typeface="Arial"/>
              </a:rPr>
              <a:t>07</a:t>
            </a:r>
          </a:p>
        </p:txBody>
      </p:sp>
      <p:sp>
        <p:nvSpPr>
          <p:cNvPr id="38" name="TextBox 37"/>
          <p:cNvSpPr txBox="1"/>
          <p:nvPr/>
        </p:nvSpPr>
        <p:spPr>
          <a:xfrm>
            <a:off x="1097280" y="6318504"/>
            <a:ext cx="2926080" cy="347472"/>
          </a:xfrm>
          <a:prstGeom prst="rect">
            <a:avLst/>
          </a:prstGeom>
          <a:noFill/>
        </p:spPr>
        <p:txBody>
          <a:bodyPr wrap="square" anchor="t"/>
          <a:lstStyle/>
          <a:p>
            <a:pPr algn="l"/>
            <a:r>
              <a:rPr sz="1400" b="1">
                <a:solidFill>
                  <a:srgbClr val="FFFFFF"/>
                </a:solidFill>
                <a:latin typeface="Arial"/>
              </a:rPr>
              <a:t>The Opening</a:t>
            </a:r>
          </a:p>
        </p:txBody>
      </p:sp>
      <p:sp>
        <p:nvSpPr>
          <p:cNvPr id="39" name="TextBox 38"/>
          <p:cNvSpPr txBox="1"/>
          <p:nvPr/>
        </p:nvSpPr>
        <p:spPr>
          <a:xfrm>
            <a:off x="4114800" y="6318504"/>
            <a:ext cx="1828800" cy="347472"/>
          </a:xfrm>
          <a:prstGeom prst="rect">
            <a:avLst/>
          </a:prstGeom>
          <a:noFill/>
        </p:spPr>
        <p:txBody>
          <a:bodyPr wrap="square" anchor="t"/>
          <a:lstStyle/>
          <a:p>
            <a:pPr algn="l"/>
            <a:r>
              <a:rPr sz="1200" b="0">
                <a:solidFill>
                  <a:srgbClr val="C8C2B6"/>
                </a:solidFill>
                <a:latin typeface="Arial"/>
              </a:rPr>
              <a:t>Opening night</a:t>
            </a:r>
          </a:p>
        </p:txBody>
      </p:sp>
      <p:sp>
        <p:nvSpPr>
          <p:cNvPr id="40" name="TextBox 39"/>
          <p:cNvSpPr txBox="1"/>
          <p:nvPr/>
        </p:nvSpPr>
        <p:spPr>
          <a:xfrm>
            <a:off x="5943600" y="6318504"/>
            <a:ext cx="1371600" cy="347472"/>
          </a:xfrm>
          <a:prstGeom prst="rect">
            <a:avLst/>
          </a:prstGeom>
          <a:noFill/>
        </p:spPr>
        <p:txBody>
          <a:bodyPr wrap="square" anchor="t"/>
          <a:lstStyle/>
          <a:p>
            <a:pPr algn="l"/>
            <a:r>
              <a:rPr sz="1100" b="1">
                <a:solidFill>
                  <a:srgbClr val="9FC9A8"/>
                </a:solidFill>
                <a:latin typeface="Arial"/>
              </a:rPr>
              <a:t>READY</a:t>
            </a:r>
          </a:p>
        </p:txBody>
      </p:sp>
      <p:sp>
        <p:nvSpPr>
          <p:cNvPr id="41" name="TextBox 40"/>
          <p:cNvSpPr txBox="1"/>
          <p:nvPr/>
        </p:nvSpPr>
        <p:spPr>
          <a:xfrm>
            <a:off x="457200" y="7589520"/>
            <a:ext cx="6858000" cy="1828800"/>
          </a:xfrm>
          <a:prstGeom prst="rect">
            <a:avLst/>
          </a:prstGeom>
          <a:noFill/>
        </p:spPr>
        <p:txBody>
          <a:bodyPr wrap="square" anchor="t"/>
          <a:lstStyle/>
          <a:p>
            <a:pPr algn="l"/>
            <a:r>
              <a:rPr sz="1300" b="0">
                <a:solidFill>
                  <a:srgbClr val="F5F0E8"/>
                </a:solidFill>
                <a:latin typeface="Arial"/>
              </a:rPr>
              <a:t>Ask in the room: which one face should carry the season, and whether a second history SKU is worth the photo-rights work.</a:t>
            </a:r>
          </a:p>
        </p:txBody>
      </p:sp>
      <p:sp>
        <p:nvSpPr>
          <p:cNvPr id="42" name="Rectangle 4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45" name="TextBox 4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6858000" cy="228600"/>
          </a:xfrm>
          <a:prstGeom prst="rect">
            <a:avLst/>
          </a:prstGeom>
          <a:noFill/>
        </p:spPr>
        <p:txBody>
          <a:bodyPr wrap="square" anchor="t"/>
          <a:lstStyle/>
          <a:p>
            <a:pPr algn="l"/>
            <a:r>
              <a:rPr sz="1000" b="1">
                <a:solidFill>
                  <a:srgbClr val="BA0C2F"/>
                </a:solidFill>
                <a:latin typeface="Arial"/>
              </a:rPr>
              <a:t>03  —  THE REQUIRED MARK</a:t>
            </a:r>
          </a:p>
        </p:txBody>
      </p:sp>
      <p:sp>
        <p:nvSpPr>
          <p:cNvPr id="5" name="TextBox 4"/>
          <p:cNvSpPr txBox="1"/>
          <p:nvPr/>
        </p:nvSpPr>
        <p:spPr>
          <a:xfrm>
            <a:off x="457200" y="566928"/>
            <a:ext cx="6858000" cy="640080"/>
          </a:xfrm>
          <a:prstGeom prst="rect">
            <a:avLst/>
          </a:prstGeom>
          <a:noFill/>
        </p:spPr>
        <p:txBody>
          <a:bodyPr wrap="square" anchor="t"/>
          <a:lstStyle/>
          <a:p>
            <a:pPr algn="l"/>
            <a:r>
              <a:rPr sz="2200" b="1">
                <a:solidFill>
                  <a:srgbClr val="FFFFFF"/>
                </a:solidFill>
                <a:latin typeface="Arial"/>
              </a:rPr>
              <a:t>This lockup does not get redesigned.</a:t>
            </a:r>
          </a:p>
        </p:txBody>
      </p:sp>
      <p:sp>
        <p:nvSpPr>
          <p:cNvPr id="6" name="TextBox 5"/>
          <p:cNvSpPr txBox="1"/>
          <p:nvPr/>
        </p:nvSpPr>
        <p:spPr>
          <a:xfrm>
            <a:off x="457200" y="1280160"/>
            <a:ext cx="6858000" cy="822960"/>
          </a:xfrm>
          <a:prstGeom prst="rect">
            <a:avLst/>
          </a:prstGeom>
          <a:noFill/>
        </p:spPr>
        <p:txBody>
          <a:bodyPr wrap="square" anchor="t"/>
          <a:lstStyle/>
          <a:p>
            <a:pPr algn="l"/>
            <a:r>
              <a:rPr sz="1300" b="0">
                <a:solidFill>
                  <a:srgbClr val="F5F0E8"/>
                </a:solidFill>
                <a:latin typeface="Arial"/>
              </a:rPr>
              <a:t>Cherry circle. Giant 60. YEARS ribbon. 1966 / 2026. THE PIT. POWERED BY NUSENDA. Lobo shield. Bob King signature. Place the official PNG. Never redraw, recolor, stretch, or drop a line.</a:t>
            </a:r>
          </a:p>
        </p:txBody>
      </p:sp>
      <p:pic>
        <p:nvPicPr>
          <p:cNvPr id="7" name="Picture 6" descr="lockup-60.png"/>
          <p:cNvPicPr>
            <a:picLocks noChangeAspect="1"/>
          </p:cNvPicPr>
          <p:nvPr/>
        </p:nvPicPr>
        <p:blipFill>
          <a:blip r:embed="rId2"/>
          <a:stretch>
            <a:fillRect/>
          </a:stretch>
        </p:blipFill>
        <p:spPr>
          <a:xfrm>
            <a:off x="2331720" y="2286000"/>
            <a:ext cx="3108960" cy="3108960"/>
          </a:xfrm>
          <a:prstGeom prst="rect">
            <a:avLst/>
          </a:prstGeom>
        </p:spPr>
      </p:pic>
      <p:sp>
        <p:nvSpPr>
          <p:cNvPr id="8" name="Rectangle 7"/>
          <p:cNvSpPr/>
          <p:nvPr/>
        </p:nvSpPr>
        <p:spPr>
          <a:xfrm>
            <a:off x="457200" y="5696712"/>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6583680" cy="411480"/>
          </a:xfrm>
          <a:prstGeom prst="rect">
            <a:avLst/>
          </a:prstGeom>
          <a:noFill/>
        </p:spPr>
        <p:txBody>
          <a:bodyPr wrap="square" anchor="t"/>
          <a:lstStyle/>
          <a:p>
            <a:pPr algn="l"/>
            <a:r>
              <a:rPr sz="1200" b="0">
                <a:solidFill>
                  <a:srgbClr val="F5F0E8"/>
                </a:solidFill>
                <a:latin typeface="Arial"/>
              </a:rPr>
              <a:t>Minimum width on cup: 1.75 in.  ·  Keep 0.4 in. off seam, rim, and base.</a:t>
            </a:r>
          </a:p>
        </p:txBody>
      </p:sp>
      <p:sp>
        <p:nvSpPr>
          <p:cNvPr id="10" name="Rectangle 9"/>
          <p:cNvSpPr/>
          <p:nvPr/>
        </p:nvSpPr>
        <p:spPr>
          <a:xfrm>
            <a:off x="457200" y="6153912"/>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6080760"/>
            <a:ext cx="6583680" cy="411480"/>
          </a:xfrm>
          <a:prstGeom prst="rect">
            <a:avLst/>
          </a:prstGeom>
          <a:noFill/>
        </p:spPr>
        <p:txBody>
          <a:bodyPr wrap="square" anchor="t"/>
          <a:lstStyle/>
          <a:p>
            <a:pPr algn="l"/>
            <a:r>
              <a:rPr sz="1200" b="0">
                <a:solidFill>
                  <a:srgbClr val="F5F0E8"/>
                </a:solidFill>
                <a:latin typeface="Arial"/>
              </a:rPr>
              <a:t>Nusenda lives inside the mark. Do not add a second sponsor lockup.</a:t>
            </a:r>
          </a:p>
        </p:txBody>
      </p:sp>
      <p:sp>
        <p:nvSpPr>
          <p:cNvPr id="12" name="Rectangle 11"/>
          <p:cNvSpPr/>
          <p:nvPr/>
        </p:nvSpPr>
        <p:spPr>
          <a:xfrm>
            <a:off x="457200" y="6611112"/>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537960"/>
            <a:ext cx="6583680" cy="411480"/>
          </a:xfrm>
          <a:prstGeom prst="rect">
            <a:avLst/>
          </a:prstGeom>
          <a:noFill/>
        </p:spPr>
        <p:txBody>
          <a:bodyPr wrap="square" anchor="t"/>
          <a:lstStyle/>
          <a:p>
            <a:pPr algn="l"/>
            <a:r>
              <a:rPr sz="1200" b="0">
                <a:solidFill>
                  <a:srgbClr val="F5F0E8"/>
                </a:solidFill>
                <a:latin typeface="Arial"/>
              </a:rPr>
              <a:t>If a decorative line (the Cherry Voltage strike) approaches the badge, stop the line.</a:t>
            </a:r>
          </a:p>
        </p:txBody>
      </p:sp>
      <p:sp>
        <p:nvSpPr>
          <p:cNvPr id="14" name="Rectangle 13"/>
          <p:cNvSpPr/>
          <p:nvPr/>
        </p:nvSpPr>
        <p:spPr>
          <a:xfrm>
            <a:off x="457200" y="7068312"/>
            <a:ext cx="73152"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995160"/>
            <a:ext cx="6583680" cy="411480"/>
          </a:xfrm>
          <a:prstGeom prst="rect">
            <a:avLst/>
          </a:prstGeom>
          <a:noFill/>
        </p:spPr>
        <p:txBody>
          <a:bodyPr wrap="square" anchor="t"/>
          <a:lstStyle/>
          <a:p>
            <a:pPr algn="l"/>
            <a:r>
              <a:rPr sz="1200" b="0">
                <a:solidFill>
                  <a:srgbClr val="F5F0E8"/>
                </a:solidFill>
                <a:latin typeface="Arial"/>
              </a:rPr>
              <a:t>Any generated version of this mark is a reject. Swap in the official file.</a:t>
            </a:r>
          </a:p>
        </p:txBody>
      </p:sp>
      <p:sp>
        <p:nvSpPr>
          <p:cNvPr id="16" name="Rectangle 15"/>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19" name="TextBox 18"/>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01  /  07   ·   SIMPLE SKU</a:t>
            </a:r>
          </a:p>
        </p:txBody>
      </p:sp>
      <p:sp>
        <p:nvSpPr>
          <p:cNvPr id="5" name="Rectangle 4"/>
          <p:cNvSpPr/>
          <p:nvPr/>
        </p:nvSpPr>
        <p:spPr>
          <a:xfrm>
            <a:off x="4709160" y="256032"/>
            <a:ext cx="2606040" cy="256032"/>
          </a:xfrm>
          <a:prstGeom prst="rect">
            <a:avLst/>
          </a:prstGeom>
          <a:solidFill>
            <a:srgbClr val="1E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9FC9A8"/>
                </a:solidFill>
                <a:latin typeface="Arial"/>
              </a:rPr>
              <a:t>READY FOR REVIEW</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SUBTERRANEAN RED</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A full cherry field with the required 60 Years lockup front and center. The safest, most operational option — it reads on a concourse in one second.</a:t>
            </a:r>
          </a:p>
        </p:txBody>
      </p:sp>
      <p:pic>
        <p:nvPicPr>
          <p:cNvPr id="9" name="Picture 8" descr="01-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Front panel, centered</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Cherry PMS 186 · White · Silver 877</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None. Graphic only.</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Best as the default concession cup if only one SKU is produced.</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Correct the season line to 2026–27 before any print proof.</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Does not tell a unique Pit story beyond the required mark.</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1-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02  /  07   ·   LEGACY / HISTORY</a:t>
            </a:r>
          </a:p>
        </p:txBody>
      </p:sp>
      <p:sp>
        <p:nvSpPr>
          <p:cNvPr id="5" name="Rectangle 4"/>
          <p:cNvSpPr/>
          <p:nvPr/>
        </p:nvSpPr>
        <p:spPr>
          <a:xfrm>
            <a:off x="4709160" y="256032"/>
            <a:ext cx="2606040" cy="256032"/>
          </a:xfrm>
          <a:prstGeom prst="rect">
            <a:avLst/>
          </a:prstGeom>
          <a:solidFill>
            <a:srgbClr val="1E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9FC9A8"/>
                </a:solidFill>
                <a:latin typeface="Arial"/>
              </a:rPr>
              <a:t>READY FOR REVIEW</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REMEMBER THE FEELING</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Bob King’s line — “When you came down the ramp, it’s quite a feeling” — set as a commemorative coin on a cherry-duotone ramp / newsprint wrap.</a:t>
            </a:r>
          </a:p>
        </p:txBody>
      </p:sp>
      <p:pic>
        <p:nvPicPr>
          <p:cNvPr id="9" name="Picture 8" descr="02-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Front coin, ~2 in. diameter</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Newsprint cream · Cherry · Black · Silver</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Yes. Historic photos must come from UNM Athletics archives.</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Strongest emotional board for alumni and season-ticket holders.</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Current photography is labeled placeholder until rights are cleared.</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Pairs well with The Opening as a two-SKU legacy set.</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2-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03  /  07   ·   MODERN MERCH</a:t>
            </a:r>
          </a:p>
        </p:txBody>
      </p:sp>
      <p:sp>
        <p:nvSpPr>
          <p:cNvPr id="5" name="Rectangle 4"/>
          <p:cNvSpPr/>
          <p:nvPr/>
        </p:nvSpPr>
        <p:spPr>
          <a:xfrm>
            <a:off x="4709160" y="256032"/>
            <a:ext cx="2606040"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FFFFFF"/>
                </a:solidFill>
                <a:latin typeface="Arial"/>
              </a:rPr>
              <a:t>STUDIO RECOMMENDATION</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CHERRY VOLTAGE</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Matte black. One oversized 60. A single cherry strike. The required lockup sits on the back as an untouched badge so the front can stay loud.</a:t>
            </a:r>
          </a:p>
        </p:txBody>
      </p:sp>
      <p:pic>
        <p:nvPicPr>
          <p:cNvPr id="9" name="Picture 8" descr="03-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Back badge, 2 in., PNG as-is</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Matte black · White · Cherry strike only · Silver rules</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None. Graphic only.</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Highest shelf impact of the set. Reads at 20 feet.</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Four-color / spot-friendly. No photography to clear.</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Do not let the cherry strike cut the official lockup.</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3-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04  /  07   ·   YEARS IN REVIEW</a:t>
            </a:r>
          </a:p>
        </p:txBody>
      </p:sp>
      <p:sp>
        <p:nvSpPr>
          <p:cNvPr id="5" name="Rectangle 4"/>
          <p:cNvSpPr/>
          <p:nvPr/>
        </p:nvSpPr>
        <p:spPr>
          <a:xfrm>
            <a:off x="4709160" y="256032"/>
            <a:ext cx="2606040" cy="256032"/>
          </a:xfrm>
          <a:prstGeom prst="rect">
            <a:avLst/>
          </a:prstGeom>
          <a:solidFill>
            <a:srgbClr val="3A2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E6C07B"/>
                </a:solidFill>
                <a:latin typeface="Arial"/>
              </a:rPr>
              <a:t>CONCEPT HOLD — ART IN REVISION</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FOUR ERAS</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Turn the cup, move through 60 years: 1970s–80s cartoon wolf, 1990s bold color, early-2000s shield, 2026 lockup. The idea is sound. The drawings are not finished.</a:t>
            </a:r>
          </a:p>
        </p:txBody>
      </p:sp>
      <p:pic>
        <p:nvPicPr>
          <p:cNvPr id="9" name="Picture 8" descr="04-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Panel 4 of 4 only (2026)</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Cream · Navy · Cherry · Teal (1990s only) · Black · White</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Mascot art needs UNM Athletics approval. No licensed cartoon characters.</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Keep the four-panel structure. Do not approve current mascot drawings.</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1990s teal / LOBOS panel is the strongest piece of the wrap today.</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Present as a direction, not a print-ready face.</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4-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05  /  07   ·   ARCHITECTURE</a:t>
            </a:r>
          </a:p>
        </p:txBody>
      </p:sp>
      <p:sp>
        <p:nvSpPr>
          <p:cNvPr id="5" name="Rectangle 4"/>
          <p:cNvSpPr/>
          <p:nvPr/>
        </p:nvSpPr>
        <p:spPr>
          <a:xfrm>
            <a:off x="4709160" y="256032"/>
            <a:ext cx="2606040" cy="256032"/>
          </a:xfrm>
          <a:prstGeom prst="rect">
            <a:avLst/>
          </a:prstGeom>
          <a:solidFill>
            <a:srgbClr val="1E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9FC9A8"/>
                </a:solidFill>
                <a:latin typeface="Arial"/>
              </a:rPr>
              <a:t>READY FOR REVIEW</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THE RAMP</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Type-led cream cup about the walk into the building. The Pit is underground. No other arena souvenir can own that sentence.</a:t>
            </a:r>
          </a:p>
        </p:txBody>
      </p:sp>
      <p:pic>
        <p:nvPicPr>
          <p:cNvPr id="9" name="Picture 8" descr="05-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Base zone, below the type band</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Cream stock · Black type · Cherry rule · Official lockup</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None. Graphic only.</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Quiet on purpose. Works as the “collector” or hospitality cup.</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Best story line for a buyer presentation: only we have the ramp.</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Keep it type-only. Do not add a photo dump later.</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5-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06  /  07   ·   COLLECTIBLE GRAPHIC</a:t>
            </a:r>
          </a:p>
        </p:txBody>
      </p:sp>
      <p:sp>
        <p:nvSpPr>
          <p:cNvPr id="5" name="Rectangle 4"/>
          <p:cNvSpPr/>
          <p:nvPr/>
        </p:nvSpPr>
        <p:spPr>
          <a:xfrm>
            <a:off x="4709160" y="256032"/>
            <a:ext cx="2606040" cy="256032"/>
          </a:xfrm>
          <a:prstGeom prst="rect">
            <a:avLst/>
          </a:prstGeom>
          <a:solidFill>
            <a:srgbClr val="3A2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E6C07B"/>
                </a:solidFill>
                <a:latin typeface="Arial"/>
              </a:rPr>
              <a:t>CONCEPT HOLD — ART IN REVISION</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60 HOWLS</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Sixty vertical bars — one per year — should form a howling wolf you see at 15 feet, then count at 2 feet. Current art reads as a red barcode cloud, not a wolf.</a:t>
            </a:r>
          </a:p>
        </p:txBody>
      </p:sp>
      <p:pic>
        <p:nvPicPr>
          <p:cNvPr id="9" name="Picture 8" descr="06-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Side stamp (intended)</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Cream · Cherry · Black (3-color screenprint)</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None if the wolf is original geometry.</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Retain the idea. Do not show this face as a finished option.</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Next pass needs a clear wolf-head silhouette filled with 60 bars.</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If the wolf never reads, retire the name and keep Cherry Voltage.</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6-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4206240" cy="201168"/>
          </a:xfrm>
          <a:prstGeom prst="rect">
            <a:avLst/>
          </a:prstGeom>
          <a:noFill/>
        </p:spPr>
        <p:txBody>
          <a:bodyPr wrap="square" anchor="t"/>
          <a:lstStyle/>
          <a:p>
            <a:pPr algn="l"/>
            <a:r>
              <a:rPr sz="900" b="1">
                <a:solidFill>
                  <a:srgbClr val="BA0C2F"/>
                </a:solidFill>
                <a:latin typeface="Arial"/>
              </a:rPr>
              <a:t>CONCEPT  07  /  07   ·   OPENING NIGHT / ARCHIVE</a:t>
            </a:r>
          </a:p>
        </p:txBody>
      </p:sp>
      <p:sp>
        <p:nvSpPr>
          <p:cNvPr id="5" name="Rectangle 4"/>
          <p:cNvSpPr/>
          <p:nvPr/>
        </p:nvSpPr>
        <p:spPr>
          <a:xfrm>
            <a:off x="4709160" y="256032"/>
            <a:ext cx="2606040" cy="256032"/>
          </a:xfrm>
          <a:prstGeom prst="rect">
            <a:avLst/>
          </a:prstGeom>
          <a:solidFill>
            <a:srgbClr val="1E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64024" y="274320"/>
            <a:ext cx="2514600" cy="237744"/>
          </a:xfrm>
          <a:prstGeom prst="rect">
            <a:avLst/>
          </a:prstGeom>
          <a:noFill/>
        </p:spPr>
        <p:txBody>
          <a:bodyPr wrap="square" anchor="ctr"/>
          <a:lstStyle/>
          <a:p>
            <a:pPr algn="ctr"/>
            <a:r>
              <a:rPr sz="800" b="1">
                <a:solidFill>
                  <a:srgbClr val="9FC9A8"/>
                </a:solidFill>
                <a:latin typeface="Arial"/>
              </a:rPr>
              <a:t>READY FOR REVIEW</a:t>
            </a:r>
          </a:p>
        </p:txBody>
      </p:sp>
      <p:sp>
        <p:nvSpPr>
          <p:cNvPr id="7" name="TextBox 6"/>
          <p:cNvSpPr txBox="1"/>
          <p:nvPr/>
        </p:nvSpPr>
        <p:spPr>
          <a:xfrm>
            <a:off x="457200" y="566928"/>
            <a:ext cx="6858000" cy="502920"/>
          </a:xfrm>
          <a:prstGeom prst="rect">
            <a:avLst/>
          </a:prstGeom>
          <a:noFill/>
        </p:spPr>
        <p:txBody>
          <a:bodyPr wrap="square" anchor="t"/>
          <a:lstStyle/>
          <a:p>
            <a:pPr algn="l"/>
            <a:r>
              <a:rPr sz="2600" b="1">
                <a:solidFill>
                  <a:srgbClr val="FFFFFF"/>
                </a:solidFill>
                <a:latin typeface="Arial"/>
              </a:rPr>
              <a:t>THE OPENING</a:t>
            </a:r>
          </a:p>
        </p:txBody>
      </p:sp>
      <p:sp>
        <p:nvSpPr>
          <p:cNvPr id="8" name="TextBox 7"/>
          <p:cNvSpPr txBox="1"/>
          <p:nvPr/>
        </p:nvSpPr>
        <p:spPr>
          <a:xfrm>
            <a:off x="457200" y="1078992"/>
            <a:ext cx="6858000" cy="777240"/>
          </a:xfrm>
          <a:prstGeom prst="rect">
            <a:avLst/>
          </a:prstGeom>
          <a:noFill/>
        </p:spPr>
        <p:txBody>
          <a:bodyPr wrap="square" anchor="t"/>
          <a:lstStyle/>
          <a:p>
            <a:pPr algn="l"/>
            <a:r>
              <a:rPr sz="1200" b="0">
                <a:solidFill>
                  <a:srgbClr val="F5F0E8"/>
                </a:solidFill>
                <a:latin typeface="Arial"/>
              </a:rPr>
              <a:t>December 1, 1966. Lobos 62, Abilene Christian 53. A black-and-cherry duotone of the packed bowl, built like a Tribune front page.</a:t>
            </a:r>
          </a:p>
        </p:txBody>
      </p:sp>
      <p:pic>
        <p:nvPicPr>
          <p:cNvPr id="9" name="Picture 8" descr="07-cup.png"/>
          <p:cNvPicPr>
            <a:picLocks noChangeAspect="1"/>
          </p:cNvPicPr>
          <p:nvPr/>
        </p:nvPicPr>
        <p:blipFill>
          <a:blip r:embed="rId2"/>
          <a:stretch>
            <a:fillRect/>
          </a:stretch>
        </p:blipFill>
        <p:spPr>
          <a:xfrm>
            <a:off x="365760" y="1965960"/>
            <a:ext cx="2788920" cy="4059936"/>
          </a:xfrm>
          <a:prstGeom prst="rect">
            <a:avLst/>
          </a:prstGeom>
        </p:spPr>
      </p:pic>
      <p:sp>
        <p:nvSpPr>
          <p:cNvPr id="10" name="TextBox 9"/>
          <p:cNvSpPr txBox="1"/>
          <p:nvPr/>
        </p:nvSpPr>
        <p:spPr>
          <a:xfrm>
            <a:off x="3337560" y="1965960"/>
            <a:ext cx="3977639" cy="201168"/>
          </a:xfrm>
          <a:prstGeom prst="rect">
            <a:avLst/>
          </a:prstGeom>
          <a:noFill/>
        </p:spPr>
        <p:txBody>
          <a:bodyPr wrap="square" anchor="t"/>
          <a:lstStyle/>
          <a:p>
            <a:pPr algn="l"/>
            <a:r>
              <a:rPr sz="900" b="1">
                <a:solidFill>
                  <a:srgbClr val="BA0C2F"/>
                </a:solidFill>
                <a:latin typeface="Arial"/>
              </a:rPr>
              <a:t>REQUIRED MARK</a:t>
            </a:r>
          </a:p>
        </p:txBody>
      </p:sp>
      <p:sp>
        <p:nvSpPr>
          <p:cNvPr id="11" name="TextBox 10"/>
          <p:cNvSpPr txBox="1"/>
          <p:nvPr/>
        </p:nvSpPr>
        <p:spPr>
          <a:xfrm>
            <a:off x="3337560" y="2167128"/>
            <a:ext cx="3977639" cy="502920"/>
          </a:xfrm>
          <a:prstGeom prst="rect">
            <a:avLst/>
          </a:prstGeom>
          <a:noFill/>
        </p:spPr>
        <p:txBody>
          <a:bodyPr wrap="square" anchor="t"/>
          <a:lstStyle/>
          <a:p>
            <a:pPr algn="l"/>
            <a:r>
              <a:rPr sz="1200" b="0">
                <a:solidFill>
                  <a:srgbClr val="FFFFFF"/>
                </a:solidFill>
                <a:latin typeface="Arial"/>
              </a:rPr>
              <a:t>Side commemorative stamp</a:t>
            </a:r>
          </a:p>
        </p:txBody>
      </p:sp>
      <p:sp>
        <p:nvSpPr>
          <p:cNvPr id="12" name="TextBox 11"/>
          <p:cNvSpPr txBox="1"/>
          <p:nvPr/>
        </p:nvSpPr>
        <p:spPr>
          <a:xfrm>
            <a:off x="3337560" y="2715768"/>
            <a:ext cx="3977639" cy="201168"/>
          </a:xfrm>
          <a:prstGeom prst="rect">
            <a:avLst/>
          </a:prstGeom>
          <a:noFill/>
        </p:spPr>
        <p:txBody>
          <a:bodyPr wrap="square" anchor="t"/>
          <a:lstStyle/>
          <a:p>
            <a:pPr algn="l"/>
            <a:r>
              <a:rPr sz="900" b="1">
                <a:solidFill>
                  <a:srgbClr val="BA0C2F"/>
                </a:solidFill>
                <a:latin typeface="Arial"/>
              </a:rPr>
              <a:t>PRINT / COLOR</a:t>
            </a:r>
          </a:p>
        </p:txBody>
      </p:sp>
      <p:sp>
        <p:nvSpPr>
          <p:cNvPr id="13" name="TextBox 12"/>
          <p:cNvSpPr txBox="1"/>
          <p:nvPr/>
        </p:nvSpPr>
        <p:spPr>
          <a:xfrm>
            <a:off x="3337560" y="2916936"/>
            <a:ext cx="3977639" cy="502920"/>
          </a:xfrm>
          <a:prstGeom prst="rect">
            <a:avLst/>
          </a:prstGeom>
          <a:noFill/>
        </p:spPr>
        <p:txBody>
          <a:bodyPr wrap="square" anchor="t"/>
          <a:lstStyle/>
          <a:p>
            <a:pPr algn="l"/>
            <a:r>
              <a:rPr sz="1200" b="0">
                <a:solidFill>
                  <a:srgbClr val="FFFFFF"/>
                </a:solidFill>
                <a:latin typeface="Arial"/>
              </a:rPr>
              <a:t>Black · Cherry duotone · White type</a:t>
            </a:r>
          </a:p>
        </p:txBody>
      </p:sp>
      <p:sp>
        <p:nvSpPr>
          <p:cNvPr id="14" name="TextBox 13"/>
          <p:cNvSpPr txBox="1"/>
          <p:nvPr/>
        </p:nvSpPr>
        <p:spPr>
          <a:xfrm>
            <a:off x="3337560" y="3465576"/>
            <a:ext cx="3977639" cy="201168"/>
          </a:xfrm>
          <a:prstGeom prst="rect">
            <a:avLst/>
          </a:prstGeom>
          <a:noFill/>
        </p:spPr>
        <p:txBody>
          <a:bodyPr wrap="square" anchor="t"/>
          <a:lstStyle/>
          <a:p>
            <a:pPr algn="l"/>
            <a:r>
              <a:rPr sz="900" b="1">
                <a:solidFill>
                  <a:srgbClr val="BA0C2F"/>
                </a:solidFill>
                <a:latin typeface="Arial"/>
              </a:rPr>
              <a:t>PHOTO RIGHTS</a:t>
            </a:r>
          </a:p>
        </p:txBody>
      </p:sp>
      <p:sp>
        <p:nvSpPr>
          <p:cNvPr id="15" name="TextBox 14"/>
          <p:cNvSpPr txBox="1"/>
          <p:nvPr/>
        </p:nvSpPr>
        <p:spPr>
          <a:xfrm>
            <a:off x="3337560" y="3666744"/>
            <a:ext cx="3977639" cy="502920"/>
          </a:xfrm>
          <a:prstGeom prst="rect">
            <a:avLst/>
          </a:prstGeom>
          <a:noFill/>
        </p:spPr>
        <p:txBody>
          <a:bodyPr wrap="square" anchor="t"/>
          <a:lstStyle/>
          <a:p>
            <a:pPr algn="l"/>
            <a:r>
              <a:rPr sz="1200" b="0">
                <a:solidFill>
                  <a:srgbClr val="FFFFFF"/>
                </a:solidFill>
                <a:latin typeface="Arial"/>
              </a:rPr>
              <a:t>Yes. Period photography and any newspaper masthead need clearance.</a:t>
            </a:r>
          </a:p>
        </p:txBody>
      </p:sp>
      <p:sp>
        <p:nvSpPr>
          <p:cNvPr id="16" name="TextBox 15"/>
          <p:cNvSpPr txBox="1"/>
          <p:nvPr/>
        </p:nvSpPr>
        <p:spPr>
          <a:xfrm>
            <a:off x="3337560" y="4215384"/>
            <a:ext cx="3977639" cy="201168"/>
          </a:xfrm>
          <a:prstGeom prst="rect">
            <a:avLst/>
          </a:prstGeom>
          <a:noFill/>
        </p:spPr>
        <p:txBody>
          <a:bodyPr wrap="square" anchor="t"/>
          <a:lstStyle/>
          <a:p>
            <a:pPr algn="l"/>
            <a:r>
              <a:rPr sz="900" b="1">
                <a:solidFill>
                  <a:srgbClr val="BA0C2F"/>
                </a:solidFill>
                <a:latin typeface="Arial"/>
              </a:rPr>
              <a:t>STUDIO NOTES</a:t>
            </a:r>
          </a:p>
        </p:txBody>
      </p:sp>
      <p:sp>
        <p:nvSpPr>
          <p:cNvPr id="17" name="TextBox 16"/>
          <p:cNvSpPr txBox="1"/>
          <p:nvPr/>
        </p:nvSpPr>
        <p:spPr>
          <a:xfrm>
            <a:off x="3337560" y="4416552"/>
            <a:ext cx="3977639" cy="384048"/>
          </a:xfrm>
          <a:prstGeom prst="rect">
            <a:avLst/>
          </a:prstGeom>
          <a:noFill/>
        </p:spPr>
        <p:txBody>
          <a:bodyPr wrap="square" anchor="t"/>
          <a:lstStyle/>
          <a:p>
            <a:pPr algn="l"/>
            <a:r>
              <a:rPr sz="1100" b="0">
                <a:solidFill>
                  <a:srgbClr val="C8C2B6"/>
                </a:solidFill>
                <a:latin typeface="Arial"/>
              </a:rPr>
              <a:t>·  Newest concept on the board, and one of the strongest.</a:t>
            </a:r>
          </a:p>
        </p:txBody>
      </p:sp>
      <p:sp>
        <p:nvSpPr>
          <p:cNvPr id="18" name="TextBox 17"/>
          <p:cNvSpPr txBox="1"/>
          <p:nvPr/>
        </p:nvSpPr>
        <p:spPr>
          <a:xfrm>
            <a:off x="3337560" y="4782312"/>
            <a:ext cx="3977639" cy="384048"/>
          </a:xfrm>
          <a:prstGeom prst="rect">
            <a:avLst/>
          </a:prstGeom>
          <a:noFill/>
        </p:spPr>
        <p:txBody>
          <a:bodyPr wrap="square" anchor="t"/>
          <a:lstStyle/>
          <a:p>
            <a:pPr algn="l"/>
            <a:r>
              <a:rPr sz="1100" b="0">
                <a:solidFill>
                  <a:srgbClr val="C8C2B6"/>
                </a:solidFill>
                <a:latin typeface="Arial"/>
              </a:rPr>
              <a:t>·  Label every archive photo PHOTO · RIGHTS REQUIRED until legal clears it.</a:t>
            </a:r>
          </a:p>
        </p:txBody>
      </p:sp>
      <p:sp>
        <p:nvSpPr>
          <p:cNvPr id="19" name="TextBox 18"/>
          <p:cNvSpPr txBox="1"/>
          <p:nvPr/>
        </p:nvSpPr>
        <p:spPr>
          <a:xfrm>
            <a:off x="3337560" y="5148072"/>
            <a:ext cx="3977639" cy="384048"/>
          </a:xfrm>
          <a:prstGeom prst="rect">
            <a:avLst/>
          </a:prstGeom>
          <a:noFill/>
        </p:spPr>
        <p:txBody>
          <a:bodyPr wrap="square" anchor="t"/>
          <a:lstStyle/>
          <a:p>
            <a:pPr algn="l"/>
            <a:r>
              <a:rPr sz="1100" b="0">
                <a:solidFill>
                  <a:srgbClr val="C8C2B6"/>
                </a:solidFill>
                <a:latin typeface="Arial"/>
              </a:rPr>
              <a:t>·  Natural pair with Remember the Feeling for a history-led season.</a:t>
            </a:r>
          </a:p>
        </p:txBody>
      </p:sp>
      <p:sp>
        <p:nvSpPr>
          <p:cNvPr id="20" name="TextBox 19"/>
          <p:cNvSpPr txBox="1"/>
          <p:nvPr/>
        </p:nvSpPr>
        <p:spPr>
          <a:xfrm>
            <a:off x="457200" y="6199632"/>
            <a:ext cx="6858000" cy="182880"/>
          </a:xfrm>
          <a:prstGeom prst="rect">
            <a:avLst/>
          </a:prstGeom>
          <a:noFill/>
        </p:spPr>
        <p:txBody>
          <a:bodyPr wrap="square" anchor="t"/>
          <a:lstStyle/>
          <a:p>
            <a:pPr algn="l"/>
            <a:r>
              <a:rPr sz="900" b="1">
                <a:solidFill>
                  <a:srgbClr val="BA0C2F"/>
                </a:solidFill>
                <a:latin typeface="Arial"/>
              </a:rPr>
              <a:t>FULL WRAP  ·  10.5 × 5.75 IN.  ·  BACK  /  FRONT  /  SIDE</a:t>
            </a:r>
          </a:p>
        </p:txBody>
      </p:sp>
      <p:pic>
        <p:nvPicPr>
          <p:cNvPr id="21" name="Picture 20" descr="07-wrap.png"/>
          <p:cNvPicPr>
            <a:picLocks noChangeAspect="1"/>
          </p:cNvPicPr>
          <p:nvPr/>
        </p:nvPicPr>
        <p:blipFill>
          <a:blip r:embed="rId3"/>
          <a:stretch>
            <a:fillRect/>
          </a:stretch>
        </p:blipFill>
        <p:spPr>
          <a:xfrm>
            <a:off x="457200" y="6419088"/>
            <a:ext cx="6858000" cy="3200400"/>
          </a:xfrm>
          <a:prstGeom prst="rect">
            <a:avLst/>
          </a:prstGeom>
        </p:spPr>
      </p:pic>
      <p:sp>
        <p:nvSpPr>
          <p:cNvPr id="22" name="Rectangle 21"/>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5" name="TextBox 24"/>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6858000" cy="228600"/>
          </a:xfrm>
          <a:prstGeom prst="rect">
            <a:avLst/>
          </a:prstGeom>
          <a:noFill/>
        </p:spPr>
        <p:txBody>
          <a:bodyPr wrap="square" anchor="t"/>
          <a:lstStyle/>
          <a:p>
            <a:pPr algn="l"/>
            <a:r>
              <a:rPr sz="1000" b="1">
                <a:solidFill>
                  <a:srgbClr val="BA0C2F"/>
                </a:solidFill>
                <a:latin typeface="Arial"/>
              </a:rPr>
              <a:t>11  —  STUDIO RECOMMENDATION</a:t>
            </a:r>
          </a:p>
        </p:txBody>
      </p:sp>
      <p:sp>
        <p:nvSpPr>
          <p:cNvPr id="5" name="TextBox 4"/>
          <p:cNvSpPr txBox="1"/>
          <p:nvPr/>
        </p:nvSpPr>
        <p:spPr>
          <a:xfrm>
            <a:off x="457200" y="566928"/>
            <a:ext cx="6858000" cy="640080"/>
          </a:xfrm>
          <a:prstGeom prst="rect">
            <a:avLst/>
          </a:prstGeom>
          <a:noFill/>
        </p:spPr>
        <p:txBody>
          <a:bodyPr wrap="square" anchor="t"/>
          <a:lstStyle/>
          <a:p>
            <a:pPr algn="l"/>
            <a:r>
              <a:rPr sz="2200" b="1">
                <a:solidFill>
                  <a:srgbClr val="FFFFFF"/>
                </a:solidFill>
                <a:latin typeface="Arial"/>
              </a:rPr>
              <a:t>If one cup ships, ship Cherry Voltage.</a:t>
            </a:r>
          </a:p>
        </p:txBody>
      </p:sp>
      <p:sp>
        <p:nvSpPr>
          <p:cNvPr id="6" name="TextBox 5"/>
          <p:cNvSpPr txBox="1"/>
          <p:nvPr/>
        </p:nvSpPr>
        <p:spPr>
          <a:xfrm>
            <a:off x="457200" y="1280160"/>
            <a:ext cx="6858000" cy="914400"/>
          </a:xfrm>
          <a:prstGeom prst="rect">
            <a:avLst/>
          </a:prstGeom>
          <a:noFill/>
        </p:spPr>
        <p:txBody>
          <a:bodyPr wrap="square" anchor="t"/>
          <a:lstStyle/>
          <a:p>
            <a:pPr algn="l"/>
            <a:r>
              <a:rPr sz="1300" b="0">
                <a:solidFill>
                  <a:srgbClr val="F5F0E8"/>
                </a:solidFill>
                <a:latin typeface="Arial"/>
              </a:rPr>
              <a:t>It is the only face that already looks like a finished souvenir: high contrast, no photo rights, required mark legally parked on the back, cherry used as a strike instead of a wallpaper.</a:t>
            </a:r>
          </a:p>
        </p:txBody>
      </p:sp>
      <p:sp>
        <p:nvSpPr>
          <p:cNvPr id="7" name="Rectangle 6"/>
          <p:cNvSpPr/>
          <p:nvPr/>
        </p:nvSpPr>
        <p:spPr>
          <a:xfrm>
            <a:off x="457200" y="2423160"/>
            <a:ext cx="2194560" cy="2468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2316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606040"/>
            <a:ext cx="1938528" cy="502920"/>
          </a:xfrm>
          <a:prstGeom prst="rect">
            <a:avLst/>
          </a:prstGeom>
          <a:noFill/>
        </p:spPr>
        <p:txBody>
          <a:bodyPr wrap="square" anchor="t"/>
          <a:lstStyle/>
          <a:p>
            <a:pPr algn="l"/>
            <a:r>
              <a:rPr sz="1100" b="1">
                <a:solidFill>
                  <a:srgbClr val="BA0C2F"/>
                </a:solidFill>
                <a:latin typeface="Arial"/>
              </a:rPr>
              <a:t>IF TWO SKUS</a:t>
            </a:r>
          </a:p>
        </p:txBody>
      </p:sp>
      <p:sp>
        <p:nvSpPr>
          <p:cNvPr id="10" name="TextBox 9"/>
          <p:cNvSpPr txBox="1"/>
          <p:nvPr/>
        </p:nvSpPr>
        <p:spPr>
          <a:xfrm>
            <a:off x="585216" y="3108960"/>
            <a:ext cx="1938528" cy="1600200"/>
          </a:xfrm>
          <a:prstGeom prst="rect">
            <a:avLst/>
          </a:prstGeom>
          <a:noFill/>
        </p:spPr>
        <p:txBody>
          <a:bodyPr wrap="square" anchor="t"/>
          <a:lstStyle/>
          <a:p>
            <a:pPr algn="l"/>
            <a:r>
              <a:rPr sz="1200" b="0">
                <a:solidFill>
                  <a:srgbClr val="F5F0E8"/>
                </a:solidFill>
                <a:latin typeface="Arial"/>
              </a:rPr>
              <a:t>Cherry Voltage for the concourse.
Remember the Feeling or The Opening
for the history / alumni cup — after
photo rights are cleared.</a:t>
            </a:r>
          </a:p>
        </p:txBody>
      </p:sp>
      <p:sp>
        <p:nvSpPr>
          <p:cNvPr id="11" name="Rectangle 10"/>
          <p:cNvSpPr/>
          <p:nvPr/>
        </p:nvSpPr>
        <p:spPr>
          <a:xfrm>
            <a:off x="2743200" y="2423160"/>
            <a:ext cx="2194560" cy="2468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242316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2606040"/>
            <a:ext cx="1938528" cy="502920"/>
          </a:xfrm>
          <a:prstGeom prst="rect">
            <a:avLst/>
          </a:prstGeom>
          <a:noFill/>
        </p:spPr>
        <p:txBody>
          <a:bodyPr wrap="square" anchor="t"/>
          <a:lstStyle/>
          <a:p>
            <a:pPr algn="l"/>
            <a:r>
              <a:rPr sz="1100" b="1">
                <a:solidFill>
                  <a:srgbClr val="BA0C2F"/>
                </a:solidFill>
                <a:latin typeface="Arial"/>
              </a:rPr>
              <a:t>IF YOU NEED SAFE</a:t>
            </a:r>
          </a:p>
        </p:txBody>
      </p:sp>
      <p:sp>
        <p:nvSpPr>
          <p:cNvPr id="14" name="TextBox 13"/>
          <p:cNvSpPr txBox="1"/>
          <p:nvPr/>
        </p:nvSpPr>
        <p:spPr>
          <a:xfrm>
            <a:off x="2871216" y="3108960"/>
            <a:ext cx="1938528" cy="1600200"/>
          </a:xfrm>
          <a:prstGeom prst="rect">
            <a:avLst/>
          </a:prstGeom>
          <a:noFill/>
        </p:spPr>
        <p:txBody>
          <a:bodyPr wrap="square" anchor="t"/>
          <a:lstStyle/>
          <a:p>
            <a:pPr algn="l"/>
            <a:r>
              <a:rPr sz="1200" b="0">
                <a:solidFill>
                  <a:srgbClr val="F5F0E8"/>
                </a:solidFill>
                <a:latin typeface="Arial"/>
              </a:rPr>
              <a:t>Subterranean Red. Logo on cherry.
It will not win a design award.
It will not get anyone in trouble.</a:t>
            </a:r>
          </a:p>
        </p:txBody>
      </p:sp>
      <p:sp>
        <p:nvSpPr>
          <p:cNvPr id="15" name="Rectangle 14"/>
          <p:cNvSpPr/>
          <p:nvPr/>
        </p:nvSpPr>
        <p:spPr>
          <a:xfrm>
            <a:off x="5029200" y="2423160"/>
            <a:ext cx="2194560" cy="24688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2423160"/>
            <a:ext cx="2194560" cy="7315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57216" y="2606040"/>
            <a:ext cx="1938528" cy="502920"/>
          </a:xfrm>
          <a:prstGeom prst="rect">
            <a:avLst/>
          </a:prstGeom>
          <a:noFill/>
        </p:spPr>
        <p:txBody>
          <a:bodyPr wrap="square" anchor="t"/>
          <a:lstStyle/>
          <a:p>
            <a:pPr algn="l"/>
            <a:r>
              <a:rPr sz="1100" b="1">
                <a:solidFill>
                  <a:srgbClr val="BA0C2F"/>
                </a:solidFill>
                <a:latin typeface="Arial"/>
              </a:rPr>
              <a:t>DO NOT APPROVE YET</a:t>
            </a:r>
          </a:p>
        </p:txBody>
      </p:sp>
      <p:sp>
        <p:nvSpPr>
          <p:cNvPr id="18" name="TextBox 17"/>
          <p:cNvSpPr txBox="1"/>
          <p:nvPr/>
        </p:nvSpPr>
        <p:spPr>
          <a:xfrm>
            <a:off x="5157216" y="3108960"/>
            <a:ext cx="1938528" cy="1600200"/>
          </a:xfrm>
          <a:prstGeom prst="rect">
            <a:avLst/>
          </a:prstGeom>
          <a:noFill/>
        </p:spPr>
        <p:txBody>
          <a:bodyPr wrap="square" anchor="t"/>
          <a:lstStyle/>
          <a:p>
            <a:pPr algn="l"/>
            <a:r>
              <a:rPr sz="1200" b="0">
                <a:solidFill>
                  <a:srgbClr val="F5F0E8"/>
                </a:solidFill>
                <a:latin typeface="Arial"/>
              </a:rPr>
              <a:t>Four Eras and 60 Howls.
Keep the briefs. Redo the drawings.
Showing those faces as finals will
weaken the rest of the room.</a:t>
            </a:r>
          </a:p>
        </p:txBody>
      </p:sp>
      <p:pic>
        <p:nvPicPr>
          <p:cNvPr id="19" name="Picture 18" descr="03-cup.png"/>
          <p:cNvPicPr>
            <a:picLocks noChangeAspect="1"/>
          </p:cNvPicPr>
          <p:nvPr/>
        </p:nvPicPr>
        <p:blipFill>
          <a:blip r:embed="rId2"/>
          <a:stretch>
            <a:fillRect/>
          </a:stretch>
        </p:blipFill>
        <p:spPr>
          <a:xfrm>
            <a:off x="2468880" y="5120640"/>
            <a:ext cx="2834640" cy="4114800"/>
          </a:xfrm>
          <a:prstGeom prst="rect">
            <a:avLst/>
          </a:prstGeom>
        </p:spPr>
      </p:pic>
      <p:sp>
        <p:nvSpPr>
          <p:cNvPr id="20" name="TextBox 19"/>
          <p:cNvSpPr txBox="1"/>
          <p:nvPr/>
        </p:nvSpPr>
        <p:spPr>
          <a:xfrm>
            <a:off x="457200" y="5120640"/>
            <a:ext cx="1920240" cy="1280160"/>
          </a:xfrm>
          <a:prstGeom prst="rect">
            <a:avLst/>
          </a:prstGeom>
          <a:noFill/>
        </p:spPr>
        <p:txBody>
          <a:bodyPr wrap="square" anchor="t"/>
          <a:lstStyle/>
          <a:p>
            <a:pPr algn="l"/>
            <a:r>
              <a:rPr sz="1400" b="1">
                <a:solidFill>
                  <a:srgbClr val="FFFFFF"/>
                </a:solidFill>
                <a:latin typeface="Arial"/>
              </a:rPr>
              <a:t>CHERRY
VOLTAGE
03 / 07</a:t>
            </a:r>
          </a:p>
        </p:txBody>
      </p:sp>
      <p:sp>
        <p:nvSpPr>
          <p:cNvPr id="21" name="Rectangle 20"/>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4" name="TextBox 23"/>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72400" cy="10972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6858000" cy="228600"/>
          </a:xfrm>
          <a:prstGeom prst="rect">
            <a:avLst/>
          </a:prstGeom>
          <a:noFill/>
        </p:spPr>
        <p:txBody>
          <a:bodyPr wrap="square" anchor="t"/>
          <a:lstStyle/>
          <a:p>
            <a:pPr algn="l"/>
            <a:r>
              <a:rPr sz="1000" b="1">
                <a:solidFill>
                  <a:srgbClr val="BA0C2F"/>
                </a:solidFill>
                <a:latin typeface="Arial"/>
              </a:rPr>
              <a:t>12  —  NEXT STEPS  ·  FINE PRINT</a:t>
            </a:r>
          </a:p>
        </p:txBody>
      </p:sp>
      <p:sp>
        <p:nvSpPr>
          <p:cNvPr id="5" name="TextBox 4"/>
          <p:cNvSpPr txBox="1"/>
          <p:nvPr/>
        </p:nvSpPr>
        <p:spPr>
          <a:xfrm>
            <a:off x="457200" y="566928"/>
            <a:ext cx="6858000" cy="502920"/>
          </a:xfrm>
          <a:prstGeom prst="rect">
            <a:avLst/>
          </a:prstGeom>
          <a:noFill/>
        </p:spPr>
        <p:txBody>
          <a:bodyPr wrap="square" anchor="t"/>
          <a:lstStyle/>
          <a:p>
            <a:pPr algn="l"/>
            <a:r>
              <a:rPr sz="2200" b="1">
                <a:solidFill>
                  <a:srgbClr val="FFFFFF"/>
                </a:solidFill>
                <a:latin typeface="Arial"/>
              </a:rPr>
              <a:t>What to decide in this meeting</a:t>
            </a:r>
          </a:p>
        </p:txBody>
      </p:sp>
      <p:sp>
        <p:nvSpPr>
          <p:cNvPr id="6" name="Rectangle 5"/>
          <p:cNvSpPr/>
          <p:nvPr/>
        </p:nvSpPr>
        <p:spPr>
          <a:xfrm>
            <a:off x="457200" y="1280160"/>
            <a:ext cx="347472" cy="34747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16736"/>
            <a:ext cx="347472" cy="292608"/>
          </a:xfrm>
          <a:prstGeom prst="rect">
            <a:avLst/>
          </a:prstGeom>
          <a:noFill/>
        </p:spPr>
        <p:txBody>
          <a:bodyPr wrap="square" anchor="t"/>
          <a:lstStyle/>
          <a:p>
            <a:pPr algn="ctr"/>
            <a:r>
              <a:rPr sz="1400" b="1">
                <a:solidFill>
                  <a:srgbClr val="FFFFFF"/>
                </a:solidFill>
                <a:latin typeface="Arial"/>
              </a:rPr>
              <a:t>1</a:t>
            </a:r>
          </a:p>
        </p:txBody>
      </p:sp>
      <p:sp>
        <p:nvSpPr>
          <p:cNvPr id="8" name="TextBox 7"/>
          <p:cNvSpPr txBox="1"/>
          <p:nvPr/>
        </p:nvSpPr>
        <p:spPr>
          <a:xfrm>
            <a:off x="960120" y="1298448"/>
            <a:ext cx="6309360" cy="457200"/>
          </a:xfrm>
          <a:prstGeom prst="rect">
            <a:avLst/>
          </a:prstGeom>
          <a:noFill/>
        </p:spPr>
        <p:txBody>
          <a:bodyPr wrap="square" anchor="t"/>
          <a:lstStyle/>
          <a:p>
            <a:pPr algn="l"/>
            <a:r>
              <a:rPr sz="1400" b="0">
                <a:solidFill>
                  <a:srgbClr val="F5F0E8"/>
                </a:solidFill>
                <a:latin typeface="Arial"/>
              </a:rPr>
              <a:t>Pick a primary face for the 2026–27 souvenir cup.</a:t>
            </a:r>
          </a:p>
        </p:txBody>
      </p:sp>
      <p:sp>
        <p:nvSpPr>
          <p:cNvPr id="9" name="Rectangle 8"/>
          <p:cNvSpPr/>
          <p:nvPr/>
        </p:nvSpPr>
        <p:spPr>
          <a:xfrm>
            <a:off x="457200" y="1847088"/>
            <a:ext cx="347472" cy="34747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83664"/>
            <a:ext cx="347472" cy="292608"/>
          </a:xfrm>
          <a:prstGeom prst="rect">
            <a:avLst/>
          </a:prstGeom>
          <a:noFill/>
        </p:spPr>
        <p:txBody>
          <a:bodyPr wrap="square" anchor="t"/>
          <a:lstStyle/>
          <a:p>
            <a:pPr algn="ctr"/>
            <a:r>
              <a:rPr sz="1400" b="1">
                <a:solidFill>
                  <a:srgbClr val="FFFFFF"/>
                </a:solidFill>
                <a:latin typeface="Arial"/>
              </a:rPr>
              <a:t>2</a:t>
            </a:r>
          </a:p>
        </p:txBody>
      </p:sp>
      <p:sp>
        <p:nvSpPr>
          <p:cNvPr id="11" name="TextBox 10"/>
          <p:cNvSpPr txBox="1"/>
          <p:nvPr/>
        </p:nvSpPr>
        <p:spPr>
          <a:xfrm>
            <a:off x="960120" y="1865376"/>
            <a:ext cx="6309360" cy="457200"/>
          </a:xfrm>
          <a:prstGeom prst="rect">
            <a:avLst/>
          </a:prstGeom>
          <a:noFill/>
        </p:spPr>
        <p:txBody>
          <a:bodyPr wrap="square" anchor="t"/>
          <a:lstStyle/>
          <a:p>
            <a:pPr algn="l"/>
            <a:r>
              <a:rPr sz="1400" b="0">
                <a:solidFill>
                  <a:srgbClr val="F5F0E8"/>
                </a:solidFill>
                <a:latin typeface="Arial"/>
              </a:rPr>
              <a:t>Decide whether a second history SKU is in budget (photo rights + a second plate).</a:t>
            </a:r>
          </a:p>
        </p:txBody>
      </p:sp>
      <p:sp>
        <p:nvSpPr>
          <p:cNvPr id="12" name="Rectangle 11"/>
          <p:cNvSpPr/>
          <p:nvPr/>
        </p:nvSpPr>
        <p:spPr>
          <a:xfrm>
            <a:off x="457200" y="2414016"/>
            <a:ext cx="347472" cy="34747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50592"/>
            <a:ext cx="347472" cy="292608"/>
          </a:xfrm>
          <a:prstGeom prst="rect">
            <a:avLst/>
          </a:prstGeom>
          <a:noFill/>
        </p:spPr>
        <p:txBody>
          <a:bodyPr wrap="square" anchor="t"/>
          <a:lstStyle/>
          <a:p>
            <a:pPr algn="ctr"/>
            <a:r>
              <a:rPr sz="1400" b="1">
                <a:solidFill>
                  <a:srgbClr val="FFFFFF"/>
                </a:solidFill>
                <a:latin typeface="Arial"/>
              </a:rPr>
              <a:t>3</a:t>
            </a:r>
          </a:p>
        </p:txBody>
      </p:sp>
      <p:sp>
        <p:nvSpPr>
          <p:cNvPr id="14" name="TextBox 13"/>
          <p:cNvSpPr txBox="1"/>
          <p:nvPr/>
        </p:nvSpPr>
        <p:spPr>
          <a:xfrm>
            <a:off x="960120" y="2432304"/>
            <a:ext cx="6309360" cy="457200"/>
          </a:xfrm>
          <a:prstGeom prst="rect">
            <a:avLst/>
          </a:prstGeom>
          <a:noFill/>
        </p:spPr>
        <p:txBody>
          <a:bodyPr wrap="square" anchor="t"/>
          <a:lstStyle/>
          <a:p>
            <a:pPr algn="l"/>
            <a:r>
              <a:rPr sz="1400" b="0">
                <a:solidFill>
                  <a:srgbClr val="F5F0E8"/>
                </a:solidFill>
                <a:latin typeface="Arial"/>
              </a:rPr>
              <a:t>Confirm the official 60 Years PNG is the only lockup that may print.</a:t>
            </a:r>
          </a:p>
        </p:txBody>
      </p:sp>
      <p:sp>
        <p:nvSpPr>
          <p:cNvPr id="15" name="Rectangle 14"/>
          <p:cNvSpPr/>
          <p:nvPr/>
        </p:nvSpPr>
        <p:spPr>
          <a:xfrm>
            <a:off x="457200" y="2980944"/>
            <a:ext cx="347472" cy="34747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17520"/>
            <a:ext cx="347472" cy="292608"/>
          </a:xfrm>
          <a:prstGeom prst="rect">
            <a:avLst/>
          </a:prstGeom>
          <a:noFill/>
        </p:spPr>
        <p:txBody>
          <a:bodyPr wrap="square" anchor="t"/>
          <a:lstStyle/>
          <a:p>
            <a:pPr algn="ctr"/>
            <a:r>
              <a:rPr sz="1400" b="1">
                <a:solidFill>
                  <a:srgbClr val="FFFFFF"/>
                </a:solidFill>
                <a:latin typeface="Arial"/>
              </a:rPr>
              <a:t>4</a:t>
            </a:r>
          </a:p>
        </p:txBody>
      </p:sp>
      <p:sp>
        <p:nvSpPr>
          <p:cNvPr id="17" name="TextBox 16"/>
          <p:cNvSpPr txBox="1"/>
          <p:nvPr/>
        </p:nvSpPr>
        <p:spPr>
          <a:xfrm>
            <a:off x="960120" y="2999232"/>
            <a:ext cx="6309360" cy="457200"/>
          </a:xfrm>
          <a:prstGeom prst="rect">
            <a:avLst/>
          </a:prstGeom>
          <a:noFill/>
        </p:spPr>
        <p:txBody>
          <a:bodyPr wrap="square" anchor="t"/>
          <a:lstStyle/>
          <a:p>
            <a:pPr algn="l"/>
            <a:r>
              <a:rPr sz="1400" b="0">
                <a:solidFill>
                  <a:srgbClr val="F5F0E8"/>
                </a:solidFill>
                <a:latin typeface="Arial"/>
              </a:rPr>
              <a:t>Park Four Eras and 60 Howls as R&amp;D unless new art is requested.</a:t>
            </a:r>
          </a:p>
        </p:txBody>
      </p:sp>
      <p:sp>
        <p:nvSpPr>
          <p:cNvPr id="18" name="Rectangle 17"/>
          <p:cNvSpPr/>
          <p:nvPr/>
        </p:nvSpPr>
        <p:spPr>
          <a:xfrm>
            <a:off x="457200" y="3547872"/>
            <a:ext cx="347472" cy="34747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584448"/>
            <a:ext cx="347472" cy="292608"/>
          </a:xfrm>
          <a:prstGeom prst="rect">
            <a:avLst/>
          </a:prstGeom>
          <a:noFill/>
        </p:spPr>
        <p:txBody>
          <a:bodyPr wrap="square" anchor="t"/>
          <a:lstStyle/>
          <a:p>
            <a:pPr algn="ctr"/>
            <a:r>
              <a:rPr sz="1400" b="1">
                <a:solidFill>
                  <a:srgbClr val="FFFFFF"/>
                </a:solidFill>
                <a:latin typeface="Arial"/>
              </a:rPr>
              <a:t>5</a:t>
            </a:r>
          </a:p>
        </p:txBody>
      </p:sp>
      <p:sp>
        <p:nvSpPr>
          <p:cNvPr id="20" name="TextBox 19"/>
          <p:cNvSpPr txBox="1"/>
          <p:nvPr/>
        </p:nvSpPr>
        <p:spPr>
          <a:xfrm>
            <a:off x="960120" y="3566160"/>
            <a:ext cx="6309360" cy="457200"/>
          </a:xfrm>
          <a:prstGeom prst="rect">
            <a:avLst/>
          </a:prstGeom>
          <a:noFill/>
        </p:spPr>
        <p:txBody>
          <a:bodyPr wrap="square" anchor="t"/>
          <a:lstStyle/>
          <a:p>
            <a:pPr algn="l"/>
            <a:r>
              <a:rPr sz="1400" b="0">
                <a:solidFill>
                  <a:srgbClr val="F5F0E8"/>
                </a:solidFill>
                <a:latin typeface="Arial"/>
              </a:rPr>
              <a:t>Move the approved wrap to a real 32 oz stadium-cup dieline — current mockups are still a pint silhouette.</a:t>
            </a:r>
          </a:p>
        </p:txBody>
      </p:sp>
      <p:sp>
        <p:nvSpPr>
          <p:cNvPr id="21" name="Rectangle 20"/>
          <p:cNvSpPr/>
          <p:nvPr/>
        </p:nvSpPr>
        <p:spPr>
          <a:xfrm>
            <a:off x="457200" y="4572000"/>
            <a:ext cx="6858000" cy="13716"/>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754880"/>
            <a:ext cx="6858000" cy="274320"/>
          </a:xfrm>
          <a:prstGeom prst="rect">
            <a:avLst/>
          </a:prstGeom>
          <a:noFill/>
        </p:spPr>
        <p:txBody>
          <a:bodyPr wrap="square" anchor="t"/>
          <a:lstStyle/>
          <a:p>
            <a:pPr algn="l"/>
            <a:r>
              <a:rPr sz="1000" b="1">
                <a:solidFill>
                  <a:srgbClr val="BA0C2F"/>
                </a:solidFill>
                <a:latin typeface="Arial"/>
              </a:rPr>
              <a:t>FINE PRINT</a:t>
            </a:r>
          </a:p>
        </p:txBody>
      </p:sp>
      <p:sp>
        <p:nvSpPr>
          <p:cNvPr id="23" name="TextBox 22"/>
          <p:cNvSpPr txBox="1"/>
          <p:nvPr/>
        </p:nvSpPr>
        <p:spPr>
          <a:xfrm>
            <a:off x="457200" y="5074920"/>
            <a:ext cx="6858000" cy="3108960"/>
          </a:xfrm>
          <a:prstGeom prst="rect">
            <a:avLst/>
          </a:prstGeom>
          <a:noFill/>
        </p:spPr>
        <p:txBody>
          <a:bodyPr wrap="square" anchor="t"/>
          <a:lstStyle/>
          <a:p>
            <a:pPr algn="l"/>
            <a:r>
              <a:rPr sz="1200" b="0">
                <a:solidFill>
                  <a:srgbClr val="C8C2B6"/>
                </a:solidFill>
                <a:latin typeface="Arial"/>
              </a:rPr>
              <a:t>These are prototype wraps for internal review. They are not licensed for production, sale, or public release. University marks, The Pit naming, Nusenda partnership language, and Bob King’s signature are used here only as specified by the official 60th lockup. Historic photography and any newspaper treatment remain placeholders until UNM Athletics and Legal clear them.
Vessel note: renderings use a pint-style silhouette. Production stock should be a 32 oz stadium cup.
Interactive reference: https://stand-revel-66898789.figma.site
Prepared as a printed executive handout, September 2026.</a:t>
            </a:r>
          </a:p>
        </p:txBody>
      </p:sp>
      <p:pic>
        <p:nvPicPr>
          <p:cNvPr id="24" name="Picture 23" descr="lockup-60.png"/>
          <p:cNvPicPr>
            <a:picLocks noChangeAspect="1"/>
          </p:cNvPicPr>
          <p:nvPr/>
        </p:nvPicPr>
        <p:blipFill>
          <a:blip r:embed="rId2"/>
          <a:stretch>
            <a:fillRect/>
          </a:stretch>
        </p:blipFill>
        <p:spPr>
          <a:xfrm>
            <a:off x="5623560" y="7818120"/>
            <a:ext cx="1554480" cy="1554480"/>
          </a:xfrm>
          <a:prstGeom prst="rect">
            <a:avLst/>
          </a:prstGeom>
        </p:spPr>
      </p:pic>
      <p:sp>
        <p:nvSpPr>
          <p:cNvPr id="25" name="Rectangle 24"/>
          <p:cNvSpPr/>
          <p:nvPr/>
        </p:nvSpPr>
        <p:spPr>
          <a:xfrm>
            <a:off x="0" y="9802368"/>
            <a:ext cx="7772400" cy="25603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9802368"/>
            <a:ext cx="164592" cy="256032"/>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9820656"/>
            <a:ext cx="4937760" cy="201168"/>
          </a:xfrm>
          <a:prstGeom prst="rect">
            <a:avLst/>
          </a:prstGeom>
          <a:noFill/>
        </p:spPr>
        <p:txBody>
          <a:bodyPr wrap="square" anchor="t"/>
          <a:lstStyle/>
          <a:p>
            <a:pPr algn="l"/>
            <a:r>
              <a:rPr sz="700" b="0">
                <a:solidFill>
                  <a:srgbClr val="8A8A8A"/>
                </a:solidFill>
                <a:latin typeface="Arial"/>
              </a:rPr>
              <a:t>CONFIDENTIAL  ·  PROTOTYPE — NOT LICENSED FOR PRODUCTION  ·  UNM ATHLETICS</a:t>
            </a:r>
          </a:p>
        </p:txBody>
      </p:sp>
      <p:sp>
        <p:nvSpPr>
          <p:cNvPr id="28" name="TextBox 27"/>
          <p:cNvSpPr txBox="1"/>
          <p:nvPr/>
        </p:nvSpPr>
        <p:spPr>
          <a:xfrm>
            <a:off x="5669280" y="9820656"/>
            <a:ext cx="1645920" cy="201168"/>
          </a:xfrm>
          <a:prstGeom prst="rect">
            <a:avLst/>
          </a:prstGeom>
          <a:noFill/>
        </p:spPr>
        <p:txBody>
          <a:bodyPr wrap="square" anchor="t"/>
          <a:lstStyle/>
          <a:p>
            <a:pPr algn="r"/>
            <a:r>
              <a:rPr sz="700" b="0">
                <a:solidFill>
                  <a:srgbClr val="8A8A8A"/>
                </a:solidFill>
                <a:latin typeface="Aria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